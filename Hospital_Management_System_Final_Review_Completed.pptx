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90" r:id="rId4"/>
    <p:sldId id="259" r:id="rId5"/>
    <p:sldId id="285" r:id="rId6"/>
    <p:sldId id="284" r:id="rId7"/>
    <p:sldId id="288" r:id="rId8"/>
    <p:sldId id="287" r:id="rId9"/>
    <p:sldId id="300" r:id="rId10"/>
    <p:sldId id="291" r:id="rId11"/>
    <p:sldId id="292" r:id="rId12"/>
    <p:sldId id="293" r:id="rId13"/>
    <p:sldId id="294" r:id="rId14"/>
    <p:sldId id="295" r:id="rId15"/>
    <p:sldId id="296" r:id="rId16"/>
    <p:sldId id="299" r:id="rId17"/>
    <p:sldId id="268" r:id="rId18"/>
    <p:sldId id="269" r:id="rId19"/>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74" d="100"/>
          <a:sy n="74" d="100"/>
        </p:scale>
        <p:origin x="1795"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27-09-2026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hyperlink" Target="https://github.com/yuvachandu233-stack/hospital-management-system" TargetMode="External"/><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hyperlink" Target="https://dbfiddle.dev/postgres?checkpoint=1790499877" TargetMode="External"/><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hyperlink" Target="https://dbfiddle.dev/postgres?checkpoint=1790501331" TargetMode="External"/><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265624" y="1197215"/>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Database Management Systems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 (Review I &amp; II)</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640740"/>
          </a:xfrm>
          <a:prstGeom prst="rect">
            <a:avLst/>
          </a:prstGeom>
        </p:spPr>
        <p:txBody>
          <a:bodyPr vert="horz" wrap="square" lIns="0" tIns="16510" rIns="0" bIns="0" rtlCol="0">
            <a:spAutoFit/>
          </a:bodyPr>
          <a:lstStyle/>
          <a:p>
            <a:pPr algn="ctr">
              <a:lnSpc>
                <a:spcPct val="100000"/>
              </a:lnSpc>
              <a:spcBef>
                <a:spcPts val="130"/>
              </a:spcBef>
            </a:pPr>
            <a:r>
              <a:rPr sz="2800" b="1" dirty="0">
                <a:solidFill>
                  <a:srgbClr val="17375E"/>
                </a:solidFill>
                <a:latin typeface="Times New Roman"/>
              </a:rPr>
              <a:t>HOSPITAL MANAGEMENT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G.YUVA CHANDU(25B11AI310)</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M.SRIHARI(25B11AI668)</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Y.ASHOKNANDA(25B11AID07)</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K.PADMAKARA CHOWDARY(25B11AI489)</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4CFCDBE-4C63-87EF-E675-0CF1C45E6F48}"/>
              </a:ext>
            </a:extLst>
          </p:cNvPr>
          <p:cNvSpPr txBox="1"/>
          <p:nvPr/>
        </p:nvSpPr>
        <p:spPr>
          <a:xfrm>
            <a:off x="1265624" y="6244696"/>
            <a:ext cx="7772400" cy="430887"/>
          </a:xfrm>
          <a:prstGeom prst="rect">
            <a:avLst/>
          </a:prstGeom>
          <a:noFill/>
        </p:spPr>
        <p:txBody>
          <a:bodyPr wrap="square">
            <a:spAutoFit/>
          </a:bodyPr>
          <a:lstStyle/>
          <a:p>
            <a:pPr marL="1270" algn="ctr">
              <a:lnSpc>
                <a:spcPct val="100000"/>
              </a:lnSpc>
              <a:spcBef>
                <a:spcPts val="994"/>
              </a:spcBef>
            </a:pPr>
            <a:r>
              <a:rPr lang="en-US" sz="2200" dirty="0">
                <a:solidFill>
                  <a:srgbClr val="943735"/>
                </a:solidFill>
                <a:latin typeface="Times New Roman" panose="02020603050405020304" pitchFamily="18" charset="0"/>
                <a:cs typeface="Times New Roman" panose="02020603050405020304" pitchFamily="18" charset="0"/>
              </a:rPr>
              <a:t>Department</a:t>
            </a:r>
            <a:r>
              <a:rPr lang="en-US" sz="2200" spc="-60" dirty="0">
                <a:solidFill>
                  <a:srgbClr val="943735"/>
                </a:solidFill>
                <a:latin typeface="Times New Roman" panose="02020603050405020304" pitchFamily="18" charset="0"/>
                <a:cs typeface="Times New Roman" panose="02020603050405020304" pitchFamily="18" charset="0"/>
              </a:rPr>
              <a:t> </a:t>
            </a:r>
            <a:r>
              <a:rPr lang="en-US" sz="2200" dirty="0">
                <a:solidFill>
                  <a:srgbClr val="943735"/>
                </a:solidFill>
                <a:latin typeface="Times New Roman" panose="02020603050405020304" pitchFamily="18" charset="0"/>
                <a:cs typeface="Times New Roman" panose="02020603050405020304" pitchFamily="18" charset="0"/>
              </a:rPr>
              <a:t>of Artificial Intelligence &amp; Machine Learning</a:t>
            </a:r>
            <a:endParaRPr lang="en-US" sz="220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700000" y="1497893"/>
            <a:ext cx="4100000"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endParaRPr/>
          </a:p>
        </p:txBody>
      </p:sp>
      <p:sp>
        <p:nvSpPr>
          <p:cNvPr id="20" name="object 20"/>
          <p:cNvSpPr txBox="1"/>
          <p:nvPr/>
        </p:nvSpPr>
        <p:spPr>
          <a:xfrm>
            <a:off x="5100000" y="1497893"/>
            <a:ext cx="4100000"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startAt="9"/>
              <a:tabLst>
                <a:tab pos="389890" algn="l"/>
              </a:tabLst>
            </a:pPr>
            <a:endParaRP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
        <p:nvSpPr>
          <p:cNvPr id="21" name="TextBox 20"/>
          <p:cNvSpPr txBox="1"/>
          <p:nvPr/>
        </p:nvSpPr>
        <p:spPr>
          <a:xfrm>
            <a:off x="685800" y="1234440"/>
            <a:ext cx="8686800" cy="1772793"/>
          </a:xfrm>
          <a:prstGeom prst="rect">
            <a:avLst/>
          </a:prstGeom>
          <a:noFill/>
          <a:ln>
            <a:noFill/>
          </a:ln>
        </p:spPr>
        <p:txBody>
          <a:bodyPr wrap="square" lIns="54864" tIns="54864" rIns="54864" bIns="54864" anchor="t">
            <a:spAutoFit/>
          </a:bodyPr>
          <a:lstStyle/>
          <a:p>
            <a:pPr algn="just">
              <a:spcBef>
                <a:spcPts val="0"/>
              </a:spcBef>
              <a:spcAft>
                <a:spcPts val="0"/>
              </a:spcAft>
            </a:pPr>
            <a:r>
              <a:rPr b="1" dirty="0">
                <a:solidFill>
                  <a:srgbClr val="17375E"/>
                </a:solidFill>
                <a:latin typeface="Times New Roman"/>
              </a:rPr>
              <a:t>ABSTRACT</a:t>
            </a:r>
            <a:r>
              <a:rPr sz="1500" b="0" dirty="0">
                <a:solidFill>
                  <a:srgbClr val="17375E"/>
                </a:solidFill>
                <a:latin typeface="Times New Roman"/>
              </a:rPr>
              <a:t>
</a:t>
            </a:r>
            <a:r>
              <a:rPr b="0" dirty="0">
                <a:solidFill>
                  <a:srgbClr val="17375E"/>
                </a:solidFill>
                <a:latin typeface="Times New Roman"/>
              </a:rPr>
              <a:t>The Hospital Management System is a relational database designed to manage patient, doctor, department, ward, appointment, treatment and billing information in a centralized and structured manner. The system uses relational database concepts, constraints and SQL operations to maintain data integrity, reduce redundancy and provide efficient access to hospital records.</a:t>
            </a:r>
          </a:p>
        </p:txBody>
      </p:sp>
      <p:sp>
        <p:nvSpPr>
          <p:cNvPr id="22" name="TextBox 21"/>
          <p:cNvSpPr txBox="1"/>
          <p:nvPr/>
        </p:nvSpPr>
        <p:spPr>
          <a:xfrm>
            <a:off x="646880" y="3457810"/>
            <a:ext cx="4280520" cy="1571389"/>
          </a:xfrm>
          <a:prstGeom prst="rect">
            <a:avLst/>
          </a:prstGeom>
          <a:noFill/>
          <a:ln>
            <a:noFill/>
          </a:ln>
        </p:spPr>
        <p:txBody>
          <a:bodyPr wrap="square" lIns="45720" tIns="27432" rIns="45720" bIns="27432">
            <a:spAutoFit/>
          </a:bodyPr>
          <a:lstStyle/>
          <a:p>
            <a:pPr algn="just">
              <a:lnSpc>
                <a:spcPct val="100000"/>
              </a:lnSpc>
              <a:spcAft>
                <a:spcPts val="300"/>
              </a:spcAft>
              <a:defRPr sz="1700">
                <a:solidFill>
                  <a:srgbClr val="17375E"/>
                </a:solidFill>
                <a:latin typeface="Times New Roman"/>
              </a:defRPr>
            </a:pPr>
            <a:r>
              <a:rPr dirty="0"/>
              <a:t> </a:t>
            </a:r>
            <a:r>
              <a:rPr b="1" dirty="0"/>
              <a:t>Review I: </a:t>
            </a:r>
            <a:r>
              <a:rPr dirty="0"/>
              <a:t>Database Design</a:t>
            </a:r>
          </a:p>
          <a:p>
            <a:pPr algn="just">
              <a:lnSpc>
                <a:spcPct val="100000"/>
              </a:lnSpc>
              <a:spcAft>
                <a:spcPts val="300"/>
              </a:spcAft>
              <a:defRPr sz="1700">
                <a:solidFill>
                  <a:srgbClr val="17375E"/>
                </a:solidFill>
                <a:latin typeface="Times New Roman"/>
              </a:defRPr>
            </a:pPr>
            <a:r>
              <a:rPr dirty="0"/>
              <a:t>• Title, objectives &amp; problem statement</a:t>
            </a:r>
          </a:p>
          <a:p>
            <a:pPr algn="just">
              <a:lnSpc>
                <a:spcPct val="100000"/>
              </a:lnSpc>
              <a:spcAft>
                <a:spcPts val="300"/>
              </a:spcAft>
              <a:defRPr sz="1700">
                <a:solidFill>
                  <a:srgbClr val="17375E"/>
                </a:solidFill>
                <a:latin typeface="Times New Roman"/>
              </a:defRPr>
            </a:pPr>
            <a:r>
              <a:rPr dirty="0"/>
              <a:t>• Entities, attributes &amp; ER diagram</a:t>
            </a:r>
          </a:p>
          <a:p>
            <a:pPr algn="just">
              <a:lnSpc>
                <a:spcPct val="100000"/>
              </a:lnSpc>
              <a:spcAft>
                <a:spcPts val="300"/>
              </a:spcAft>
              <a:defRPr sz="1700">
                <a:solidFill>
                  <a:srgbClr val="17375E"/>
                </a:solidFill>
                <a:latin typeface="Times New Roman"/>
              </a:defRPr>
            </a:pPr>
            <a:r>
              <a:rPr dirty="0"/>
              <a:t>• Relational schema; primary &amp; foreign keys</a:t>
            </a:r>
          </a:p>
          <a:p>
            <a:pPr algn="just">
              <a:lnSpc>
                <a:spcPct val="100000"/>
              </a:lnSpc>
              <a:spcAft>
                <a:spcPts val="300"/>
              </a:spcAft>
              <a:defRPr sz="1700">
                <a:solidFill>
                  <a:srgbClr val="17375E"/>
                </a:solidFill>
                <a:latin typeface="Times New Roman"/>
              </a:defRPr>
            </a:pPr>
            <a:r>
              <a:rPr dirty="0"/>
              <a:t>• GitHub repository &amp; team</a:t>
            </a:r>
          </a:p>
        </p:txBody>
      </p:sp>
      <p:sp>
        <p:nvSpPr>
          <p:cNvPr id="23" name="TextBox 22"/>
          <p:cNvSpPr txBox="1"/>
          <p:nvPr/>
        </p:nvSpPr>
        <p:spPr>
          <a:xfrm>
            <a:off x="5262878" y="3443956"/>
            <a:ext cx="4206240" cy="1817421"/>
          </a:xfrm>
          <a:prstGeom prst="rect">
            <a:avLst/>
          </a:prstGeom>
          <a:noFill/>
          <a:ln>
            <a:noFill/>
          </a:ln>
        </p:spPr>
        <p:txBody>
          <a:bodyPr wrap="square" lIns="45720" tIns="27432" rIns="45720" bIns="27432">
            <a:spAutoFit/>
          </a:bodyPr>
          <a:lstStyle/>
          <a:p>
            <a:pPr algn="just">
              <a:lnSpc>
                <a:spcPct val="100000"/>
              </a:lnSpc>
              <a:spcAft>
                <a:spcPts val="300"/>
              </a:spcAft>
              <a:defRPr sz="1700">
                <a:solidFill>
                  <a:srgbClr val="17375E"/>
                </a:solidFill>
                <a:latin typeface="Times New Roman"/>
              </a:defRPr>
            </a:pPr>
            <a:r>
              <a:rPr b="1" dirty="0"/>
              <a:t>Review II: </a:t>
            </a:r>
            <a:r>
              <a:rPr dirty="0"/>
              <a:t>MySQL Implementation</a:t>
            </a:r>
          </a:p>
          <a:p>
            <a:pPr algn="just">
              <a:lnSpc>
                <a:spcPct val="100000"/>
              </a:lnSpc>
              <a:spcAft>
                <a:spcPts val="300"/>
              </a:spcAft>
              <a:defRPr sz="1700">
                <a:solidFill>
                  <a:srgbClr val="17375E"/>
                </a:solidFill>
                <a:latin typeface="Times New Roman"/>
              </a:defRPr>
            </a:pPr>
            <a:r>
              <a:rPr dirty="0"/>
              <a:t>• Tables, constraints &amp; sample data</a:t>
            </a:r>
          </a:p>
          <a:p>
            <a:pPr algn="just">
              <a:lnSpc>
                <a:spcPct val="100000"/>
              </a:lnSpc>
              <a:spcAft>
                <a:spcPts val="300"/>
              </a:spcAft>
              <a:defRPr sz="1700">
                <a:solidFill>
                  <a:srgbClr val="17375E"/>
                </a:solidFill>
                <a:latin typeface="Times New Roman"/>
              </a:defRPr>
            </a:pPr>
            <a:r>
              <a:rPr dirty="0"/>
              <a:t>• DDL, DML, DQL &amp; CRUD</a:t>
            </a:r>
          </a:p>
          <a:p>
            <a:pPr algn="just">
              <a:lnSpc>
                <a:spcPct val="100000"/>
              </a:lnSpc>
              <a:spcAft>
                <a:spcPts val="300"/>
              </a:spcAft>
              <a:defRPr sz="1700">
                <a:solidFill>
                  <a:srgbClr val="17375E"/>
                </a:solidFill>
                <a:latin typeface="Times New Roman"/>
              </a:defRPr>
            </a:pPr>
            <a:r>
              <a:rPr dirty="0"/>
              <a:t>• Joins, aggregates, subqueries &amp; views</a:t>
            </a:r>
          </a:p>
          <a:p>
            <a:pPr algn="just">
              <a:lnSpc>
                <a:spcPct val="100000"/>
              </a:lnSpc>
              <a:spcAft>
                <a:spcPts val="300"/>
              </a:spcAft>
              <a:defRPr sz="1700">
                <a:solidFill>
                  <a:srgbClr val="17375E"/>
                </a:solidFill>
                <a:latin typeface="Times New Roman"/>
              </a:defRPr>
            </a:pPr>
            <a:r>
              <a:rPr dirty="0"/>
              <a:t>• Validation, documentation &amp; demonstration</a:t>
            </a:r>
          </a:p>
          <a:p>
            <a:pPr algn="just">
              <a:lnSpc>
                <a:spcPct val="100000"/>
              </a:lnSpc>
              <a:spcAft>
                <a:spcPts val="300"/>
              </a:spcAft>
              <a:defRPr sz="1700">
                <a:solidFill>
                  <a:srgbClr val="17375E"/>
                </a:solidFill>
                <a:latin typeface="Times New Roman"/>
              </a:defRPr>
            </a:pPr>
            <a:r>
              <a:rPr dirty="0"/>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19" y="1506215"/>
            <a:ext cx="3032125"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endParaRPr sz="2000" dirty="0">
              <a:latin typeface="Times New Roman" panose="02020603050405020304" pitchFamily="18" charset="0"/>
              <a:cs typeface="Times New Roman" panose="02020603050405020304" pitchFamily="18" charset="0"/>
            </a:endParaRP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1700" b="1" dirty="0">
                <a:solidFill>
                  <a:schemeClr val="bg1"/>
                </a:solidFill>
                <a:latin typeface="Times New Roman" panose="02020603050405020304" pitchFamily="18" charset="0"/>
                <a:cs typeface="Times New Roman" panose="02020603050405020304" pitchFamily="18" charset="0"/>
              </a:rPr>
              <a:t>REVIEW – I : DATABASE DESIGN</a:t>
            </a:r>
          </a:p>
        </p:txBody>
      </p:sp>
      <p:sp>
        <p:nvSpPr>
          <p:cNvPr id="11" name="TextBox 10"/>
          <p:cNvSpPr txBox="1"/>
          <p:nvPr/>
        </p:nvSpPr>
        <p:spPr>
          <a:xfrm>
            <a:off x="762000" y="1271272"/>
            <a:ext cx="7498079" cy="978729"/>
          </a:xfrm>
          <a:prstGeom prst="rect">
            <a:avLst/>
          </a:prstGeom>
          <a:noFill/>
          <a:ln>
            <a:noFill/>
          </a:ln>
        </p:spPr>
        <p:txBody>
          <a:bodyPr wrap="square" lIns="73152" tIns="73152" rIns="73152" bIns="73152" anchor="t">
            <a:spAutoFit/>
          </a:bodyPr>
          <a:lstStyle/>
          <a:p>
            <a:pPr algn="just">
              <a:spcBef>
                <a:spcPts val="0"/>
              </a:spcBef>
              <a:spcAft>
                <a:spcPts val="0"/>
              </a:spcAft>
            </a:pPr>
            <a:r>
              <a:rPr sz="1800" b="1" dirty="0">
                <a:solidFill>
                  <a:srgbClr val="17375E"/>
                </a:solidFill>
                <a:latin typeface="Times New Roman"/>
              </a:rPr>
              <a:t>Review I </a:t>
            </a:r>
            <a:r>
              <a:rPr sz="1800" b="0" dirty="0">
                <a:solidFill>
                  <a:srgbClr val="17375E"/>
                </a:solidFill>
                <a:latin typeface="Times New Roman"/>
              </a:rPr>
              <a:t>focuses on designing the Hospital Management System database by identifying entities and attributes, establishing relationships, preparing the relational schema, defining keys and assigning team responsibilities.</a:t>
            </a:r>
          </a:p>
        </p:txBody>
      </p:sp>
      <p:sp>
        <p:nvSpPr>
          <p:cNvPr id="12" name="TextBox 11"/>
          <p:cNvSpPr txBox="1"/>
          <p:nvPr/>
        </p:nvSpPr>
        <p:spPr>
          <a:xfrm>
            <a:off x="1417319" y="2672779"/>
            <a:ext cx="7040880" cy="2002087"/>
          </a:xfrm>
          <a:prstGeom prst="rect">
            <a:avLst/>
          </a:prstGeom>
          <a:noFill/>
          <a:ln>
            <a:noFill/>
          </a:ln>
        </p:spPr>
        <p:txBody>
          <a:bodyPr wrap="square" lIns="45720" tIns="27432" rIns="45720" bIns="27432">
            <a:spAutoFit/>
          </a:bodyPr>
          <a:lstStyle/>
          <a:p>
            <a:pPr marL="342900" indent="-342900">
              <a:lnSpc>
                <a:spcPct val="100000"/>
              </a:lnSpc>
              <a:spcAft>
                <a:spcPts val="300"/>
              </a:spcAft>
              <a:buFont typeface="Wingdings" panose="05000000000000000000" pitchFamily="2" charset="2"/>
              <a:buChar char="v"/>
              <a:defRPr sz="1900">
                <a:solidFill>
                  <a:srgbClr val="17375E"/>
                </a:solidFill>
                <a:latin typeface="Times New Roman"/>
              </a:defRPr>
            </a:pPr>
            <a:r>
              <a:rPr dirty="0"/>
              <a:t>Finalize title, objectives &amp; problem statement</a:t>
            </a:r>
          </a:p>
          <a:p>
            <a:pPr marL="342900" indent="-342900">
              <a:lnSpc>
                <a:spcPct val="100000"/>
              </a:lnSpc>
              <a:spcAft>
                <a:spcPts val="300"/>
              </a:spcAft>
              <a:buFont typeface="Wingdings" panose="05000000000000000000" pitchFamily="2" charset="2"/>
              <a:buChar char="v"/>
              <a:defRPr sz="1900">
                <a:solidFill>
                  <a:srgbClr val="17375E"/>
                </a:solidFill>
                <a:latin typeface="Times New Roman"/>
              </a:defRPr>
            </a:pPr>
            <a:r>
              <a:rPr dirty="0"/>
              <a:t>Identify 9 entities and key attributes</a:t>
            </a:r>
          </a:p>
          <a:p>
            <a:pPr marL="342900" indent="-342900">
              <a:lnSpc>
                <a:spcPct val="100000"/>
              </a:lnSpc>
              <a:spcAft>
                <a:spcPts val="300"/>
              </a:spcAft>
              <a:buFont typeface="Wingdings" panose="05000000000000000000" pitchFamily="2" charset="2"/>
              <a:buChar char="v"/>
              <a:defRPr sz="1900">
                <a:solidFill>
                  <a:srgbClr val="17375E"/>
                </a:solidFill>
                <a:latin typeface="Times New Roman"/>
              </a:defRPr>
            </a:pPr>
            <a:r>
              <a:rPr dirty="0"/>
              <a:t>Design ER diagram and cardinalities</a:t>
            </a:r>
          </a:p>
          <a:p>
            <a:pPr marL="342900" indent="-342900">
              <a:lnSpc>
                <a:spcPct val="100000"/>
              </a:lnSpc>
              <a:spcAft>
                <a:spcPts val="300"/>
              </a:spcAft>
              <a:buFont typeface="Wingdings" panose="05000000000000000000" pitchFamily="2" charset="2"/>
              <a:buChar char="v"/>
              <a:defRPr sz="1900">
                <a:solidFill>
                  <a:srgbClr val="17375E"/>
                </a:solidFill>
                <a:latin typeface="Times New Roman"/>
              </a:defRPr>
            </a:pPr>
            <a:r>
              <a:rPr dirty="0"/>
              <a:t>Prepare normalized relational schema</a:t>
            </a:r>
          </a:p>
          <a:p>
            <a:pPr marL="342900" indent="-342900">
              <a:lnSpc>
                <a:spcPct val="100000"/>
              </a:lnSpc>
              <a:spcAft>
                <a:spcPts val="300"/>
              </a:spcAft>
              <a:buFont typeface="Wingdings" panose="05000000000000000000" pitchFamily="2" charset="2"/>
              <a:buChar char="v"/>
              <a:defRPr sz="1900">
                <a:solidFill>
                  <a:srgbClr val="17375E"/>
                </a:solidFill>
                <a:latin typeface="Times New Roman"/>
              </a:defRPr>
            </a:pPr>
            <a:r>
              <a:rPr dirty="0"/>
              <a:t>Define primary and foreign keys</a:t>
            </a:r>
          </a:p>
          <a:p>
            <a:pPr marL="342900" indent="-342900">
              <a:lnSpc>
                <a:spcPct val="100000"/>
              </a:lnSpc>
              <a:spcAft>
                <a:spcPts val="300"/>
              </a:spcAft>
              <a:buFont typeface="Wingdings" panose="05000000000000000000" pitchFamily="2" charset="2"/>
              <a:buChar char="v"/>
              <a:defRPr sz="1900">
                <a:solidFill>
                  <a:srgbClr val="17375E"/>
                </a:solidFill>
                <a:latin typeface="Times New Roman"/>
              </a:defRPr>
            </a:pPr>
            <a:r>
              <a:rPr dirty="0"/>
              <a:t>Assign repository and team responsibilities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343400"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9" name="TextBox 8">
            <a:extLst>
              <a:ext uri="{FF2B5EF4-FFF2-40B4-BE49-F238E27FC236}">
                <a16:creationId xmlns:a16="http://schemas.microsoft.com/office/drawing/2014/main" id="{8B8826DA-C0C7-3280-A179-8C72B3DEAD4E}"/>
              </a:ext>
            </a:extLst>
          </p:cNvPr>
          <p:cNvSpPr txBox="1"/>
          <p:nvPr/>
        </p:nvSpPr>
        <p:spPr>
          <a:xfrm>
            <a:off x="1600200" y="2133600"/>
            <a:ext cx="6324600" cy="830997"/>
          </a:xfrm>
          <a:prstGeom prst="rect">
            <a:avLst/>
          </a:prstGeom>
          <a:noFill/>
        </p:spPr>
        <p:txBody>
          <a:bodyPr wrap="square">
            <a:spAutoFit/>
          </a:bodyPr>
          <a:lstStyle/>
          <a:p>
            <a:endParaRPr/>
          </a:p>
        </p:txBody>
      </p:sp>
      <p:sp>
        <p:nvSpPr>
          <p:cNvPr id="18" name="TextBox 17"/>
          <p:cNvSpPr txBox="1"/>
          <p:nvPr/>
        </p:nvSpPr>
        <p:spPr>
          <a:xfrm>
            <a:off x="731520" y="1307840"/>
            <a:ext cx="8686800" cy="384048"/>
          </a:xfrm>
          <a:prstGeom prst="rect">
            <a:avLst/>
          </a:prstGeom>
          <a:noFill/>
          <a:ln>
            <a:noFill/>
          </a:ln>
        </p:spPr>
        <p:txBody>
          <a:bodyPr wrap="square" lIns="73152" tIns="73152" rIns="73152" bIns="73152" anchor="t">
            <a:spAutoFit/>
          </a:bodyPr>
          <a:lstStyle/>
          <a:p>
            <a:pPr algn="ctr">
              <a:spcBef>
                <a:spcPts val="0"/>
              </a:spcBef>
              <a:spcAft>
                <a:spcPts val="0"/>
              </a:spcAft>
            </a:pPr>
            <a:r>
              <a:rPr sz="2200" b="1" dirty="0">
                <a:solidFill>
                  <a:srgbClr val="F76600"/>
                </a:solidFill>
                <a:latin typeface="Times New Roman"/>
              </a:rPr>
              <a:t>HOSPITAL MANAGEMENT SYSTEM</a:t>
            </a:r>
          </a:p>
        </p:txBody>
      </p:sp>
      <p:sp>
        <p:nvSpPr>
          <p:cNvPr id="19" name="TextBox 18"/>
          <p:cNvSpPr txBox="1"/>
          <p:nvPr/>
        </p:nvSpPr>
        <p:spPr>
          <a:xfrm>
            <a:off x="777240" y="1874519"/>
            <a:ext cx="4023360" cy="384048"/>
          </a:xfrm>
          <a:prstGeom prst="rect">
            <a:avLst/>
          </a:prstGeom>
          <a:noFill/>
          <a:ln>
            <a:noFill/>
          </a:ln>
        </p:spPr>
        <p:txBody>
          <a:bodyPr wrap="square" lIns="73152" tIns="73152" rIns="73152" bIns="73152" anchor="t">
            <a:spAutoFit/>
          </a:bodyPr>
          <a:lstStyle/>
          <a:p>
            <a:pPr algn="l">
              <a:spcBef>
                <a:spcPts val="0"/>
              </a:spcBef>
              <a:spcAft>
                <a:spcPts val="0"/>
              </a:spcAft>
            </a:pPr>
            <a:r>
              <a:rPr sz="1800" b="1">
                <a:solidFill>
                  <a:srgbClr val="17375E"/>
                </a:solidFill>
                <a:latin typeface="Times New Roman"/>
              </a:rPr>
              <a:t>PROBLEM STATEMENT</a:t>
            </a:r>
          </a:p>
        </p:txBody>
      </p:sp>
      <p:sp>
        <p:nvSpPr>
          <p:cNvPr id="20" name="TextBox 19"/>
          <p:cNvSpPr txBox="1"/>
          <p:nvPr/>
        </p:nvSpPr>
        <p:spPr>
          <a:xfrm>
            <a:off x="777240" y="2267712"/>
            <a:ext cx="4251960" cy="2086725"/>
          </a:xfrm>
          <a:prstGeom prst="rect">
            <a:avLst/>
          </a:prstGeom>
          <a:noFill/>
          <a:ln>
            <a:noFill/>
          </a:ln>
        </p:spPr>
        <p:txBody>
          <a:bodyPr wrap="square" lIns="73152" tIns="73152" rIns="73152" bIns="73152" anchor="t">
            <a:spAutoFit/>
          </a:bodyPr>
          <a:lstStyle/>
          <a:p>
            <a:pPr algn="just">
              <a:spcBef>
                <a:spcPts val="0"/>
              </a:spcBef>
              <a:spcAft>
                <a:spcPts val="0"/>
              </a:spcAft>
            </a:pPr>
            <a:r>
              <a:rPr b="0" dirty="0">
                <a:solidFill>
                  <a:srgbClr val="17375E"/>
                </a:solidFill>
                <a:latin typeface="Times New Roman"/>
              </a:rPr>
              <a:t>Managing hospital records manually or using disconnected records can lead to data duplication, inconsistency and difficulty in retrieving patient, appointment, treatment and billing information. A centralized relational database is required to organize hospital information efficiently.</a:t>
            </a:r>
          </a:p>
        </p:txBody>
      </p:sp>
      <p:sp>
        <p:nvSpPr>
          <p:cNvPr id="21" name="TextBox 20"/>
          <p:cNvSpPr txBox="1"/>
          <p:nvPr/>
        </p:nvSpPr>
        <p:spPr>
          <a:xfrm>
            <a:off x="5196813" y="1874519"/>
            <a:ext cx="3566160" cy="384048"/>
          </a:xfrm>
          <a:prstGeom prst="rect">
            <a:avLst/>
          </a:prstGeom>
          <a:noFill/>
          <a:ln>
            <a:noFill/>
          </a:ln>
        </p:spPr>
        <p:txBody>
          <a:bodyPr wrap="square" lIns="73152" tIns="73152" rIns="73152" bIns="73152" anchor="t">
            <a:spAutoFit/>
          </a:bodyPr>
          <a:lstStyle/>
          <a:p>
            <a:pPr algn="l">
              <a:spcBef>
                <a:spcPts val="0"/>
              </a:spcBef>
              <a:spcAft>
                <a:spcPts val="0"/>
              </a:spcAft>
            </a:pPr>
            <a:r>
              <a:rPr sz="1800" b="1" dirty="0">
                <a:solidFill>
                  <a:srgbClr val="17375E"/>
                </a:solidFill>
                <a:latin typeface="Times New Roman"/>
              </a:rPr>
              <a:t>OBJECTIVES</a:t>
            </a:r>
          </a:p>
        </p:txBody>
      </p:sp>
      <p:sp>
        <p:nvSpPr>
          <p:cNvPr id="22" name="TextBox 21"/>
          <p:cNvSpPr txBox="1"/>
          <p:nvPr/>
        </p:nvSpPr>
        <p:spPr>
          <a:xfrm>
            <a:off x="5257802" y="2218787"/>
            <a:ext cx="3566160" cy="2256002"/>
          </a:xfrm>
          <a:prstGeom prst="rect">
            <a:avLst/>
          </a:prstGeom>
          <a:noFill/>
          <a:ln>
            <a:noFill/>
          </a:ln>
        </p:spPr>
        <p:txBody>
          <a:bodyPr wrap="square" lIns="45720" tIns="27432" rIns="45720" bIns="27432">
            <a:spAutoFit/>
          </a:bodyPr>
          <a:lstStyle/>
          <a:p>
            <a:pPr marL="285750" indent="-285750" algn="just">
              <a:lnSpc>
                <a:spcPct val="100000"/>
              </a:lnSpc>
              <a:spcAft>
                <a:spcPts val="300"/>
              </a:spcAft>
              <a:buFont typeface="Wingdings" panose="05000000000000000000" pitchFamily="2" charset="2"/>
              <a:buChar char="v"/>
              <a:defRPr sz="1600">
                <a:solidFill>
                  <a:srgbClr val="17375E"/>
                </a:solidFill>
                <a:latin typeface="Times New Roman"/>
              </a:defRPr>
            </a:pPr>
            <a:r>
              <a:rPr dirty="0"/>
              <a:t> Maintain patient records efficiently</a:t>
            </a:r>
          </a:p>
          <a:p>
            <a:pPr marL="285750" indent="-285750" algn="just">
              <a:lnSpc>
                <a:spcPct val="100000"/>
              </a:lnSpc>
              <a:spcAft>
                <a:spcPts val="300"/>
              </a:spcAft>
              <a:buFont typeface="Wingdings" panose="05000000000000000000" pitchFamily="2" charset="2"/>
              <a:buChar char="v"/>
              <a:defRPr sz="1600">
                <a:solidFill>
                  <a:srgbClr val="17375E"/>
                </a:solidFill>
                <a:latin typeface="Times New Roman"/>
              </a:defRPr>
            </a:pPr>
            <a:r>
              <a:rPr dirty="0"/>
              <a:t> Manage doctors and departments</a:t>
            </a:r>
          </a:p>
          <a:p>
            <a:pPr marL="285750" indent="-285750" algn="just">
              <a:lnSpc>
                <a:spcPct val="100000"/>
              </a:lnSpc>
              <a:spcAft>
                <a:spcPts val="300"/>
              </a:spcAft>
              <a:buFont typeface="Wingdings" panose="05000000000000000000" pitchFamily="2" charset="2"/>
              <a:buChar char="v"/>
              <a:defRPr sz="1600">
                <a:solidFill>
                  <a:srgbClr val="17375E"/>
                </a:solidFill>
                <a:latin typeface="Times New Roman"/>
              </a:defRPr>
            </a:pPr>
            <a:r>
              <a:rPr dirty="0"/>
              <a:t> Schedule and track appointments</a:t>
            </a:r>
          </a:p>
          <a:p>
            <a:pPr marL="285750" indent="-285750" algn="just">
              <a:lnSpc>
                <a:spcPct val="100000"/>
              </a:lnSpc>
              <a:spcAft>
                <a:spcPts val="300"/>
              </a:spcAft>
              <a:buFont typeface="Wingdings" panose="05000000000000000000" pitchFamily="2" charset="2"/>
              <a:buChar char="v"/>
              <a:defRPr sz="1600">
                <a:solidFill>
                  <a:srgbClr val="17375E"/>
                </a:solidFill>
                <a:latin typeface="Times New Roman"/>
              </a:defRPr>
            </a:pPr>
            <a:r>
              <a:rPr dirty="0"/>
              <a:t> Record diagnosis and treatment details</a:t>
            </a:r>
          </a:p>
          <a:p>
            <a:pPr marL="285750" indent="-285750" algn="just">
              <a:lnSpc>
                <a:spcPct val="100000"/>
              </a:lnSpc>
              <a:spcAft>
                <a:spcPts val="300"/>
              </a:spcAft>
              <a:buFont typeface="Wingdings" panose="05000000000000000000" pitchFamily="2" charset="2"/>
              <a:buChar char="v"/>
              <a:defRPr sz="1600">
                <a:solidFill>
                  <a:srgbClr val="17375E"/>
                </a:solidFill>
                <a:latin typeface="Times New Roman"/>
              </a:defRPr>
            </a:pPr>
            <a:r>
              <a:rPr dirty="0"/>
              <a:t> Manage wards and bed information</a:t>
            </a:r>
          </a:p>
          <a:p>
            <a:pPr marL="285750" indent="-285750" algn="just">
              <a:lnSpc>
                <a:spcPct val="100000"/>
              </a:lnSpc>
              <a:spcAft>
                <a:spcPts val="300"/>
              </a:spcAft>
              <a:buFont typeface="Wingdings" panose="05000000000000000000" pitchFamily="2" charset="2"/>
              <a:buChar char="v"/>
              <a:defRPr sz="1600">
                <a:solidFill>
                  <a:srgbClr val="17375E"/>
                </a:solidFill>
                <a:latin typeface="Times New Roman"/>
              </a:defRPr>
            </a:pPr>
            <a:r>
              <a:rPr dirty="0"/>
              <a:t> Maintain accurate billing records</a:t>
            </a:r>
          </a:p>
          <a:p>
            <a:pPr marL="285750" indent="-285750" algn="just">
              <a:lnSpc>
                <a:spcPct val="100000"/>
              </a:lnSpc>
              <a:spcAft>
                <a:spcPts val="300"/>
              </a:spcAft>
              <a:buFont typeface="Wingdings" panose="05000000000000000000" pitchFamily="2" charset="2"/>
              <a:buChar char="v"/>
              <a:defRPr sz="1600">
                <a:solidFill>
                  <a:srgbClr val="17375E"/>
                </a:solidFill>
                <a:latin typeface="Times New Roman"/>
              </a:defRPr>
            </a:pPr>
            <a:r>
              <a:rPr dirty="0"/>
              <a:t> Ensure data integrity and consistency</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ENTITIES &amp; ATTRIBUTES</a:t>
            </a:r>
          </a:p>
        </p:txBody>
      </p:sp>
      <p:sp>
        <p:nvSpPr>
          <p:cNvPr id="9" name="TextBox 8">
            <a:extLst>
              <a:ext uri="{FF2B5EF4-FFF2-40B4-BE49-F238E27FC236}">
                <a16:creationId xmlns:a16="http://schemas.microsoft.com/office/drawing/2014/main" id="{7A800D15-2389-5516-DA9E-AC441973A9C8}"/>
              </a:ext>
            </a:extLst>
          </p:cNvPr>
          <p:cNvSpPr txBox="1"/>
          <p:nvPr/>
        </p:nvSpPr>
        <p:spPr>
          <a:xfrm>
            <a:off x="1749471" y="2362200"/>
            <a:ext cx="6781800" cy="461665"/>
          </a:xfrm>
          <a:prstGeom prst="rect">
            <a:avLst/>
          </a:prstGeom>
          <a:noFill/>
        </p:spPr>
        <p:txBody>
          <a:bodyPr wrap="square">
            <a:spAutoFit/>
          </a:bodyPr>
          <a:lstStyle/>
          <a:p>
            <a:endParaRPr/>
          </a:p>
        </p:txBody>
      </p:sp>
      <p:sp>
        <p:nvSpPr>
          <p:cNvPr id="18" name="TextBox 17"/>
          <p:cNvSpPr txBox="1"/>
          <p:nvPr/>
        </p:nvSpPr>
        <p:spPr>
          <a:xfrm>
            <a:off x="502920" y="1417320"/>
            <a:ext cx="2880360" cy="384048"/>
          </a:xfrm>
          <a:prstGeom prst="rect">
            <a:avLst/>
          </a:prstGeom>
          <a:solidFill>
            <a:srgbClr val="F76600"/>
          </a:solidFill>
          <a:ln w="12700">
            <a:solidFill>
              <a:srgbClr val="F76600"/>
            </a:solidFill>
          </a:ln>
        </p:spPr>
        <p:txBody>
          <a:bodyPr wrap="square" lIns="36576" tIns="36576" rIns="36576" bIns="36576" anchor="t">
            <a:spAutoFit/>
          </a:bodyPr>
          <a:lstStyle/>
          <a:p>
            <a:pPr algn="ctr">
              <a:spcBef>
                <a:spcPts val="0"/>
              </a:spcBef>
              <a:spcAft>
                <a:spcPts val="0"/>
              </a:spcAft>
            </a:pPr>
            <a:r>
              <a:rPr sz="1600" b="1">
                <a:solidFill>
                  <a:srgbClr val="FFFFFF"/>
                </a:solidFill>
                <a:latin typeface="Times New Roman"/>
              </a:rPr>
              <a:t>PATIENT</a:t>
            </a:r>
          </a:p>
        </p:txBody>
      </p:sp>
      <p:sp>
        <p:nvSpPr>
          <p:cNvPr id="19" name="TextBox 18"/>
          <p:cNvSpPr txBox="1"/>
          <p:nvPr/>
        </p:nvSpPr>
        <p:spPr>
          <a:xfrm>
            <a:off x="502920" y="1819656"/>
            <a:ext cx="2880360" cy="932688"/>
          </a:xfrm>
          <a:prstGeom prst="rect">
            <a:avLst/>
          </a:prstGeom>
          <a:solidFill>
            <a:srgbClr val="F2F2F2"/>
          </a:solidFill>
          <a:ln w="12700">
            <a:solidFill>
              <a:srgbClr val="17375E"/>
            </a:solidFill>
          </a:ln>
        </p:spPr>
        <p:txBody>
          <a:bodyPr wrap="square" lIns="73152" tIns="73152" rIns="73152" bIns="73152" anchor="t">
            <a:spAutoFit/>
          </a:bodyPr>
          <a:lstStyle/>
          <a:p>
            <a:pPr algn="l">
              <a:spcBef>
                <a:spcPts val="0"/>
              </a:spcBef>
              <a:spcAft>
                <a:spcPts val="0"/>
              </a:spcAft>
            </a:pPr>
            <a:r>
              <a:rPr sz="1400" b="0">
                <a:solidFill>
                  <a:srgbClr val="17375E"/>
                </a:solidFill>
                <a:latin typeface="Times New Roman"/>
              </a:rPr>
              <a:t>patient_id, name, DOB, age, blood_group, gender, address</a:t>
            </a:r>
          </a:p>
        </p:txBody>
      </p:sp>
      <p:sp>
        <p:nvSpPr>
          <p:cNvPr id="20" name="TextBox 19"/>
          <p:cNvSpPr txBox="1"/>
          <p:nvPr/>
        </p:nvSpPr>
        <p:spPr>
          <a:xfrm>
            <a:off x="3657600" y="1417320"/>
            <a:ext cx="2880360" cy="384048"/>
          </a:xfrm>
          <a:prstGeom prst="rect">
            <a:avLst/>
          </a:prstGeom>
          <a:solidFill>
            <a:srgbClr val="F76600"/>
          </a:solidFill>
          <a:ln w="12700">
            <a:solidFill>
              <a:srgbClr val="F76600"/>
            </a:solidFill>
          </a:ln>
        </p:spPr>
        <p:txBody>
          <a:bodyPr wrap="square" lIns="36576" tIns="36576" rIns="36576" bIns="36576" anchor="t">
            <a:spAutoFit/>
          </a:bodyPr>
          <a:lstStyle/>
          <a:p>
            <a:pPr algn="ctr">
              <a:spcBef>
                <a:spcPts val="0"/>
              </a:spcBef>
              <a:spcAft>
                <a:spcPts val="0"/>
              </a:spcAft>
            </a:pPr>
            <a:r>
              <a:rPr sz="1600" b="1">
                <a:solidFill>
                  <a:srgbClr val="FFFFFF"/>
                </a:solidFill>
                <a:latin typeface="Times New Roman"/>
              </a:rPr>
              <a:t>PATIENT_CONTACT</a:t>
            </a:r>
          </a:p>
        </p:txBody>
      </p:sp>
      <p:sp>
        <p:nvSpPr>
          <p:cNvPr id="21" name="TextBox 20"/>
          <p:cNvSpPr txBox="1"/>
          <p:nvPr/>
        </p:nvSpPr>
        <p:spPr>
          <a:xfrm>
            <a:off x="3657600" y="1819656"/>
            <a:ext cx="2880360" cy="932688"/>
          </a:xfrm>
          <a:prstGeom prst="rect">
            <a:avLst/>
          </a:prstGeom>
          <a:solidFill>
            <a:srgbClr val="F2F2F2"/>
          </a:solidFill>
          <a:ln w="12700">
            <a:solidFill>
              <a:srgbClr val="17375E"/>
            </a:solidFill>
          </a:ln>
        </p:spPr>
        <p:txBody>
          <a:bodyPr wrap="square" lIns="73152" tIns="73152" rIns="73152" bIns="73152" anchor="t">
            <a:spAutoFit/>
          </a:bodyPr>
          <a:lstStyle/>
          <a:p>
            <a:pPr algn="l">
              <a:spcBef>
                <a:spcPts val="0"/>
              </a:spcBef>
              <a:spcAft>
                <a:spcPts val="0"/>
              </a:spcAft>
            </a:pPr>
            <a:r>
              <a:rPr sz="1400" b="0">
                <a:solidFill>
                  <a:srgbClr val="17375E"/>
                </a:solidFill>
                <a:latin typeface="Times New Roman"/>
              </a:rPr>
              <a:t>patient_id, contact_number</a:t>
            </a:r>
          </a:p>
        </p:txBody>
      </p:sp>
      <p:sp>
        <p:nvSpPr>
          <p:cNvPr id="22" name="TextBox 21"/>
          <p:cNvSpPr txBox="1"/>
          <p:nvPr/>
        </p:nvSpPr>
        <p:spPr>
          <a:xfrm>
            <a:off x="6812280" y="1417320"/>
            <a:ext cx="2880360" cy="384048"/>
          </a:xfrm>
          <a:prstGeom prst="rect">
            <a:avLst/>
          </a:prstGeom>
          <a:solidFill>
            <a:srgbClr val="F76600"/>
          </a:solidFill>
          <a:ln w="12700">
            <a:solidFill>
              <a:srgbClr val="F76600"/>
            </a:solidFill>
          </a:ln>
        </p:spPr>
        <p:txBody>
          <a:bodyPr wrap="square" lIns="36576" tIns="36576" rIns="36576" bIns="36576" anchor="t">
            <a:spAutoFit/>
          </a:bodyPr>
          <a:lstStyle/>
          <a:p>
            <a:pPr algn="ctr">
              <a:spcBef>
                <a:spcPts val="0"/>
              </a:spcBef>
              <a:spcAft>
                <a:spcPts val="0"/>
              </a:spcAft>
            </a:pPr>
            <a:r>
              <a:rPr sz="1600" b="1">
                <a:solidFill>
                  <a:srgbClr val="FFFFFF"/>
                </a:solidFill>
                <a:latin typeface="Times New Roman"/>
              </a:rPr>
              <a:t>DOCTOR</a:t>
            </a:r>
          </a:p>
        </p:txBody>
      </p:sp>
      <p:sp>
        <p:nvSpPr>
          <p:cNvPr id="23" name="TextBox 22"/>
          <p:cNvSpPr txBox="1"/>
          <p:nvPr/>
        </p:nvSpPr>
        <p:spPr>
          <a:xfrm>
            <a:off x="6812280" y="1819656"/>
            <a:ext cx="2880360" cy="932688"/>
          </a:xfrm>
          <a:prstGeom prst="rect">
            <a:avLst/>
          </a:prstGeom>
          <a:solidFill>
            <a:srgbClr val="F2F2F2"/>
          </a:solidFill>
          <a:ln w="12700">
            <a:solidFill>
              <a:srgbClr val="17375E"/>
            </a:solidFill>
          </a:ln>
        </p:spPr>
        <p:txBody>
          <a:bodyPr wrap="square" lIns="73152" tIns="73152" rIns="73152" bIns="73152" anchor="t">
            <a:spAutoFit/>
          </a:bodyPr>
          <a:lstStyle/>
          <a:p>
            <a:pPr algn="l">
              <a:spcBef>
                <a:spcPts val="0"/>
              </a:spcBef>
              <a:spcAft>
                <a:spcPts val="0"/>
              </a:spcAft>
            </a:pPr>
            <a:r>
              <a:rPr sz="1400" b="0">
                <a:solidFill>
                  <a:srgbClr val="17375E"/>
                </a:solidFill>
                <a:latin typeface="Times New Roman"/>
              </a:rPr>
              <a:t>doctor_id, name, specialization, experience_years, email, dept_id</a:t>
            </a:r>
          </a:p>
        </p:txBody>
      </p:sp>
      <p:sp>
        <p:nvSpPr>
          <p:cNvPr id="24" name="TextBox 23"/>
          <p:cNvSpPr txBox="1"/>
          <p:nvPr/>
        </p:nvSpPr>
        <p:spPr>
          <a:xfrm>
            <a:off x="502920" y="2926080"/>
            <a:ext cx="2880360" cy="384048"/>
          </a:xfrm>
          <a:prstGeom prst="rect">
            <a:avLst/>
          </a:prstGeom>
          <a:solidFill>
            <a:srgbClr val="F76600"/>
          </a:solidFill>
          <a:ln w="12700">
            <a:solidFill>
              <a:srgbClr val="F76600"/>
            </a:solidFill>
          </a:ln>
        </p:spPr>
        <p:txBody>
          <a:bodyPr wrap="square" lIns="36576" tIns="36576" rIns="36576" bIns="36576" anchor="t">
            <a:spAutoFit/>
          </a:bodyPr>
          <a:lstStyle/>
          <a:p>
            <a:pPr algn="ctr">
              <a:spcBef>
                <a:spcPts val="0"/>
              </a:spcBef>
              <a:spcAft>
                <a:spcPts val="0"/>
              </a:spcAft>
            </a:pPr>
            <a:r>
              <a:rPr sz="1600" b="1">
                <a:solidFill>
                  <a:srgbClr val="FFFFFF"/>
                </a:solidFill>
                <a:latin typeface="Times New Roman"/>
              </a:rPr>
              <a:t>DEPARTMENT</a:t>
            </a:r>
          </a:p>
        </p:txBody>
      </p:sp>
      <p:sp>
        <p:nvSpPr>
          <p:cNvPr id="25" name="TextBox 24"/>
          <p:cNvSpPr txBox="1"/>
          <p:nvPr/>
        </p:nvSpPr>
        <p:spPr>
          <a:xfrm>
            <a:off x="502920" y="3328416"/>
            <a:ext cx="2880360" cy="932688"/>
          </a:xfrm>
          <a:prstGeom prst="rect">
            <a:avLst/>
          </a:prstGeom>
          <a:solidFill>
            <a:srgbClr val="F2F2F2"/>
          </a:solidFill>
          <a:ln w="12700">
            <a:solidFill>
              <a:srgbClr val="17375E"/>
            </a:solidFill>
          </a:ln>
        </p:spPr>
        <p:txBody>
          <a:bodyPr wrap="square" lIns="73152" tIns="73152" rIns="73152" bIns="73152" anchor="t">
            <a:spAutoFit/>
          </a:bodyPr>
          <a:lstStyle/>
          <a:p>
            <a:pPr algn="l">
              <a:spcBef>
                <a:spcPts val="0"/>
              </a:spcBef>
              <a:spcAft>
                <a:spcPts val="0"/>
              </a:spcAft>
            </a:pPr>
            <a:r>
              <a:rPr sz="1400" b="0">
                <a:solidFill>
                  <a:srgbClr val="17375E"/>
                </a:solidFill>
                <a:latin typeface="Times New Roman"/>
              </a:rPr>
              <a:t>dept_id, dept_name, hod_doctor_id, floor_no</a:t>
            </a:r>
          </a:p>
        </p:txBody>
      </p:sp>
      <p:sp>
        <p:nvSpPr>
          <p:cNvPr id="26" name="TextBox 25"/>
          <p:cNvSpPr txBox="1"/>
          <p:nvPr/>
        </p:nvSpPr>
        <p:spPr>
          <a:xfrm>
            <a:off x="3657600" y="2926080"/>
            <a:ext cx="2880360" cy="384048"/>
          </a:xfrm>
          <a:prstGeom prst="rect">
            <a:avLst/>
          </a:prstGeom>
          <a:solidFill>
            <a:srgbClr val="F76600"/>
          </a:solidFill>
          <a:ln w="12700">
            <a:solidFill>
              <a:srgbClr val="F76600"/>
            </a:solidFill>
          </a:ln>
        </p:spPr>
        <p:txBody>
          <a:bodyPr wrap="square" lIns="36576" tIns="36576" rIns="36576" bIns="36576" anchor="t">
            <a:spAutoFit/>
          </a:bodyPr>
          <a:lstStyle/>
          <a:p>
            <a:pPr algn="ctr">
              <a:spcBef>
                <a:spcPts val="0"/>
              </a:spcBef>
              <a:spcAft>
                <a:spcPts val="0"/>
              </a:spcAft>
            </a:pPr>
            <a:r>
              <a:rPr sz="1600" b="1">
                <a:solidFill>
                  <a:srgbClr val="FFFFFF"/>
                </a:solidFill>
                <a:latin typeface="Times New Roman"/>
              </a:rPr>
              <a:t>WARD</a:t>
            </a:r>
          </a:p>
        </p:txBody>
      </p:sp>
      <p:sp>
        <p:nvSpPr>
          <p:cNvPr id="27" name="TextBox 26"/>
          <p:cNvSpPr txBox="1"/>
          <p:nvPr/>
        </p:nvSpPr>
        <p:spPr>
          <a:xfrm>
            <a:off x="3657600" y="3328416"/>
            <a:ext cx="2880360" cy="932688"/>
          </a:xfrm>
          <a:prstGeom prst="rect">
            <a:avLst/>
          </a:prstGeom>
          <a:solidFill>
            <a:srgbClr val="F2F2F2"/>
          </a:solidFill>
          <a:ln w="12700">
            <a:solidFill>
              <a:srgbClr val="17375E"/>
            </a:solidFill>
          </a:ln>
        </p:spPr>
        <p:txBody>
          <a:bodyPr wrap="square" lIns="73152" tIns="73152" rIns="73152" bIns="73152" anchor="t">
            <a:spAutoFit/>
          </a:bodyPr>
          <a:lstStyle/>
          <a:p>
            <a:pPr algn="l">
              <a:spcBef>
                <a:spcPts val="0"/>
              </a:spcBef>
              <a:spcAft>
                <a:spcPts val="0"/>
              </a:spcAft>
            </a:pPr>
            <a:r>
              <a:rPr sz="1400" b="0">
                <a:solidFill>
                  <a:srgbClr val="17375E"/>
                </a:solidFill>
                <a:latin typeface="Times New Roman"/>
              </a:rPr>
              <a:t>ward_id, ward_name, capacity, available_beds, dept_id</a:t>
            </a:r>
          </a:p>
        </p:txBody>
      </p:sp>
      <p:sp>
        <p:nvSpPr>
          <p:cNvPr id="28" name="TextBox 27"/>
          <p:cNvSpPr txBox="1"/>
          <p:nvPr/>
        </p:nvSpPr>
        <p:spPr>
          <a:xfrm>
            <a:off x="6812280" y="2926080"/>
            <a:ext cx="2880360" cy="384048"/>
          </a:xfrm>
          <a:prstGeom prst="rect">
            <a:avLst/>
          </a:prstGeom>
          <a:solidFill>
            <a:srgbClr val="F76600"/>
          </a:solidFill>
          <a:ln w="12700">
            <a:solidFill>
              <a:srgbClr val="F76600"/>
            </a:solidFill>
          </a:ln>
        </p:spPr>
        <p:txBody>
          <a:bodyPr wrap="square" lIns="36576" tIns="36576" rIns="36576" bIns="36576" anchor="t">
            <a:spAutoFit/>
          </a:bodyPr>
          <a:lstStyle/>
          <a:p>
            <a:pPr algn="ctr">
              <a:spcBef>
                <a:spcPts val="0"/>
              </a:spcBef>
              <a:spcAft>
                <a:spcPts val="0"/>
              </a:spcAft>
            </a:pPr>
            <a:r>
              <a:rPr sz="1600" b="1">
                <a:solidFill>
                  <a:srgbClr val="FFFFFF"/>
                </a:solidFill>
                <a:latin typeface="Times New Roman"/>
              </a:rPr>
              <a:t>APPOINTMENT</a:t>
            </a:r>
          </a:p>
        </p:txBody>
      </p:sp>
      <p:sp>
        <p:nvSpPr>
          <p:cNvPr id="29" name="TextBox 28"/>
          <p:cNvSpPr txBox="1"/>
          <p:nvPr/>
        </p:nvSpPr>
        <p:spPr>
          <a:xfrm>
            <a:off x="6812280" y="3328416"/>
            <a:ext cx="2880360" cy="932688"/>
          </a:xfrm>
          <a:prstGeom prst="rect">
            <a:avLst/>
          </a:prstGeom>
          <a:solidFill>
            <a:srgbClr val="F2F2F2"/>
          </a:solidFill>
          <a:ln w="12700">
            <a:solidFill>
              <a:srgbClr val="17375E"/>
            </a:solidFill>
          </a:ln>
        </p:spPr>
        <p:txBody>
          <a:bodyPr wrap="square" lIns="73152" tIns="73152" rIns="73152" bIns="73152" anchor="t">
            <a:spAutoFit/>
          </a:bodyPr>
          <a:lstStyle/>
          <a:p>
            <a:pPr algn="l">
              <a:spcBef>
                <a:spcPts val="0"/>
              </a:spcBef>
              <a:spcAft>
                <a:spcPts val="0"/>
              </a:spcAft>
            </a:pPr>
            <a:r>
              <a:rPr sz="1400" b="0">
                <a:solidFill>
                  <a:srgbClr val="17375E"/>
                </a:solidFill>
                <a:latin typeface="Times New Roman"/>
              </a:rPr>
              <a:t>appt_id, patient_id, doctor_id, date, time, status</a:t>
            </a:r>
          </a:p>
        </p:txBody>
      </p:sp>
      <p:sp>
        <p:nvSpPr>
          <p:cNvPr id="30" name="TextBox 29"/>
          <p:cNvSpPr txBox="1"/>
          <p:nvPr/>
        </p:nvSpPr>
        <p:spPr>
          <a:xfrm>
            <a:off x="502920" y="4434840"/>
            <a:ext cx="2880360" cy="384048"/>
          </a:xfrm>
          <a:prstGeom prst="rect">
            <a:avLst/>
          </a:prstGeom>
          <a:solidFill>
            <a:srgbClr val="F76600"/>
          </a:solidFill>
          <a:ln w="12700">
            <a:solidFill>
              <a:srgbClr val="F76600"/>
            </a:solidFill>
          </a:ln>
        </p:spPr>
        <p:txBody>
          <a:bodyPr wrap="square" lIns="36576" tIns="36576" rIns="36576" bIns="36576" anchor="t">
            <a:spAutoFit/>
          </a:bodyPr>
          <a:lstStyle/>
          <a:p>
            <a:pPr algn="ctr">
              <a:spcBef>
                <a:spcPts val="0"/>
              </a:spcBef>
              <a:spcAft>
                <a:spcPts val="0"/>
              </a:spcAft>
            </a:pPr>
            <a:r>
              <a:rPr sz="1600" b="1">
                <a:solidFill>
                  <a:srgbClr val="FFFFFF"/>
                </a:solidFill>
                <a:latin typeface="Times New Roman"/>
              </a:rPr>
              <a:t>TREATMENT</a:t>
            </a:r>
          </a:p>
        </p:txBody>
      </p:sp>
      <p:sp>
        <p:nvSpPr>
          <p:cNvPr id="31" name="TextBox 30"/>
          <p:cNvSpPr txBox="1"/>
          <p:nvPr/>
        </p:nvSpPr>
        <p:spPr>
          <a:xfrm>
            <a:off x="502920" y="4837176"/>
            <a:ext cx="2880360" cy="932688"/>
          </a:xfrm>
          <a:prstGeom prst="rect">
            <a:avLst/>
          </a:prstGeom>
          <a:solidFill>
            <a:srgbClr val="F2F2F2"/>
          </a:solidFill>
          <a:ln w="12700">
            <a:solidFill>
              <a:srgbClr val="17375E"/>
            </a:solidFill>
          </a:ln>
        </p:spPr>
        <p:txBody>
          <a:bodyPr wrap="square" lIns="73152" tIns="73152" rIns="73152" bIns="73152" anchor="t">
            <a:spAutoFit/>
          </a:bodyPr>
          <a:lstStyle/>
          <a:p>
            <a:pPr algn="l">
              <a:spcBef>
                <a:spcPts val="0"/>
              </a:spcBef>
              <a:spcAft>
                <a:spcPts val="0"/>
              </a:spcAft>
            </a:pPr>
            <a:r>
              <a:rPr sz="1400" b="0">
                <a:solidFill>
                  <a:srgbClr val="17375E"/>
                </a:solidFill>
                <a:latin typeface="Times New Roman"/>
              </a:rPr>
              <a:t>treatment_id, appt_id, diagnosis, treatment_date, ward_id</a:t>
            </a:r>
          </a:p>
        </p:txBody>
      </p:sp>
      <p:sp>
        <p:nvSpPr>
          <p:cNvPr id="32" name="TextBox 31"/>
          <p:cNvSpPr txBox="1"/>
          <p:nvPr/>
        </p:nvSpPr>
        <p:spPr>
          <a:xfrm>
            <a:off x="3657600" y="4434840"/>
            <a:ext cx="2880360" cy="384048"/>
          </a:xfrm>
          <a:prstGeom prst="rect">
            <a:avLst/>
          </a:prstGeom>
          <a:solidFill>
            <a:srgbClr val="F76600"/>
          </a:solidFill>
          <a:ln w="12700">
            <a:solidFill>
              <a:srgbClr val="F76600"/>
            </a:solidFill>
          </a:ln>
        </p:spPr>
        <p:txBody>
          <a:bodyPr wrap="square" lIns="36576" tIns="36576" rIns="36576" bIns="36576" anchor="t">
            <a:spAutoFit/>
          </a:bodyPr>
          <a:lstStyle/>
          <a:p>
            <a:pPr algn="ctr">
              <a:spcBef>
                <a:spcPts val="0"/>
              </a:spcBef>
              <a:spcAft>
                <a:spcPts val="0"/>
              </a:spcAft>
            </a:pPr>
            <a:r>
              <a:rPr sz="1600" b="1">
                <a:solidFill>
                  <a:srgbClr val="FFFFFF"/>
                </a:solidFill>
                <a:latin typeface="Times New Roman"/>
              </a:rPr>
              <a:t>PRESCRIPTION</a:t>
            </a:r>
          </a:p>
        </p:txBody>
      </p:sp>
      <p:sp>
        <p:nvSpPr>
          <p:cNvPr id="33" name="TextBox 32"/>
          <p:cNvSpPr txBox="1"/>
          <p:nvPr/>
        </p:nvSpPr>
        <p:spPr>
          <a:xfrm>
            <a:off x="3657600" y="4837176"/>
            <a:ext cx="2880360" cy="932688"/>
          </a:xfrm>
          <a:prstGeom prst="rect">
            <a:avLst/>
          </a:prstGeom>
          <a:solidFill>
            <a:srgbClr val="F2F2F2"/>
          </a:solidFill>
          <a:ln w="12700">
            <a:solidFill>
              <a:srgbClr val="17375E"/>
            </a:solidFill>
          </a:ln>
        </p:spPr>
        <p:txBody>
          <a:bodyPr wrap="square" lIns="73152" tIns="73152" rIns="73152" bIns="73152" anchor="t">
            <a:spAutoFit/>
          </a:bodyPr>
          <a:lstStyle/>
          <a:p>
            <a:pPr algn="l">
              <a:spcBef>
                <a:spcPts val="0"/>
              </a:spcBef>
              <a:spcAft>
                <a:spcPts val="0"/>
              </a:spcAft>
            </a:pPr>
            <a:r>
              <a:rPr sz="1400" b="0">
                <a:solidFill>
                  <a:srgbClr val="17375E"/>
                </a:solidFill>
                <a:latin typeface="Times New Roman"/>
              </a:rPr>
              <a:t>prescription_id, treatment_id, medicine_name, dosage</a:t>
            </a:r>
          </a:p>
        </p:txBody>
      </p:sp>
      <p:sp>
        <p:nvSpPr>
          <p:cNvPr id="34" name="TextBox 33"/>
          <p:cNvSpPr txBox="1"/>
          <p:nvPr/>
        </p:nvSpPr>
        <p:spPr>
          <a:xfrm>
            <a:off x="6812280" y="4434840"/>
            <a:ext cx="2880360" cy="384048"/>
          </a:xfrm>
          <a:prstGeom prst="rect">
            <a:avLst/>
          </a:prstGeom>
          <a:solidFill>
            <a:srgbClr val="F76600"/>
          </a:solidFill>
          <a:ln w="12700">
            <a:solidFill>
              <a:srgbClr val="F76600"/>
            </a:solidFill>
          </a:ln>
        </p:spPr>
        <p:txBody>
          <a:bodyPr wrap="square" lIns="36576" tIns="36576" rIns="36576" bIns="36576" anchor="t">
            <a:spAutoFit/>
          </a:bodyPr>
          <a:lstStyle/>
          <a:p>
            <a:pPr algn="ctr">
              <a:spcBef>
                <a:spcPts val="0"/>
              </a:spcBef>
              <a:spcAft>
                <a:spcPts val="0"/>
              </a:spcAft>
            </a:pPr>
            <a:r>
              <a:rPr sz="1600" b="1">
                <a:solidFill>
                  <a:srgbClr val="FFFFFF"/>
                </a:solidFill>
                <a:latin typeface="Times New Roman"/>
              </a:rPr>
              <a:t>BILL</a:t>
            </a:r>
          </a:p>
        </p:txBody>
      </p:sp>
      <p:sp>
        <p:nvSpPr>
          <p:cNvPr id="35" name="TextBox 34"/>
          <p:cNvSpPr txBox="1"/>
          <p:nvPr/>
        </p:nvSpPr>
        <p:spPr>
          <a:xfrm>
            <a:off x="6812280" y="4837176"/>
            <a:ext cx="2880360" cy="932688"/>
          </a:xfrm>
          <a:prstGeom prst="rect">
            <a:avLst/>
          </a:prstGeom>
          <a:solidFill>
            <a:srgbClr val="F2F2F2"/>
          </a:solidFill>
          <a:ln w="12700">
            <a:solidFill>
              <a:srgbClr val="17375E"/>
            </a:solidFill>
          </a:ln>
        </p:spPr>
        <p:txBody>
          <a:bodyPr wrap="square" lIns="73152" tIns="73152" rIns="73152" bIns="73152" anchor="t">
            <a:spAutoFit/>
          </a:bodyPr>
          <a:lstStyle/>
          <a:p>
            <a:pPr algn="l">
              <a:spcBef>
                <a:spcPts val="0"/>
              </a:spcBef>
              <a:spcAft>
                <a:spcPts val="0"/>
              </a:spcAft>
            </a:pPr>
            <a:r>
              <a:rPr sz="1400" b="0">
                <a:solidFill>
                  <a:srgbClr val="17375E"/>
                </a:solidFill>
                <a:latin typeface="Times New Roman"/>
              </a:rPr>
              <a:t>bill_id, patient_id, treatment_id, charges, total_amount, status, bill_date</a:t>
            </a:r>
          </a:p>
        </p:txBody>
      </p:sp>
    </p:spTree>
    <p:extLst>
      <p:ext uri="{BB962C8B-B14F-4D97-AF65-F5344CB8AC3E}">
        <p14:creationId xmlns:p14="http://schemas.microsoft.com/office/powerpoint/2010/main" val="26077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7A3C-9BEC-C61B-FC8D-3B949CD8902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5F0E8CC-BDB8-7C3E-7C5E-012FD1252950}"/>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DBC28A04-FC65-6F36-8766-2B93E376E261}"/>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6F9D794-31EA-8ABA-A5E3-D49E7DEF13C2}"/>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E0767A3E-73A4-9967-916C-59851FE931A3}"/>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5C64E3F9-2AFD-ACC7-6183-250AF43BDF58}"/>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1E94C25-6779-8458-E95E-F4782347F2B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D4973351-D6E2-D3B8-C7AF-9344AB18D3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50DE1838-629A-37A8-DB28-E5CABD39B264}"/>
              </a:ext>
            </a:extLst>
          </p:cNvPr>
          <p:cNvSpPr txBox="1"/>
          <p:nvPr/>
        </p:nvSpPr>
        <p:spPr>
          <a:xfrm>
            <a:off x="41910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ER DIAGRAM</a:t>
            </a:r>
          </a:p>
        </p:txBody>
      </p:sp>
      <p:sp>
        <p:nvSpPr>
          <p:cNvPr id="45" name="TextBox 44"/>
          <p:cNvSpPr txBox="1"/>
          <p:nvPr/>
        </p:nvSpPr>
        <p:spPr>
          <a:xfrm>
            <a:off x="579121" y="1283319"/>
            <a:ext cx="8229600" cy="502920"/>
          </a:xfrm>
          <a:prstGeom prst="rect">
            <a:avLst/>
          </a:prstGeom>
          <a:noFill/>
          <a:ln>
            <a:noFill/>
          </a:ln>
        </p:spPr>
        <p:txBody>
          <a:bodyPr wrap="square" lIns="73152" tIns="73152" rIns="73152" bIns="73152" anchor="t">
            <a:spAutoFit/>
          </a:bodyPr>
          <a:lstStyle/>
          <a:p>
            <a:pPr algn="ctr">
              <a:spcBef>
                <a:spcPts val="0"/>
              </a:spcBef>
              <a:spcAft>
                <a:spcPts val="0"/>
              </a:spcAft>
            </a:pPr>
            <a:r>
              <a:rPr sz="1400" b="1">
                <a:solidFill>
                  <a:srgbClr val="17375E"/>
                </a:solidFill>
                <a:latin typeface="Times New Roman"/>
              </a:rPr>
              <a:t>PK = Primary Key   |   FK = Foreign Key   |   Cardinalities shown as 1:1, 1:N and N:1</a:t>
            </a:r>
          </a:p>
        </p:txBody>
      </p:sp>
      <p:pic>
        <p:nvPicPr>
          <p:cNvPr id="10" name="Picture 9">
            <a:extLst>
              <a:ext uri="{FF2B5EF4-FFF2-40B4-BE49-F238E27FC236}">
                <a16:creationId xmlns:a16="http://schemas.microsoft.com/office/drawing/2014/main" id="{27332279-FC0C-C079-CC71-DEF242FF1A27}"/>
              </a:ext>
            </a:extLst>
          </p:cNvPr>
          <p:cNvPicPr>
            <a:picLocks noChangeAspect="1"/>
          </p:cNvPicPr>
          <p:nvPr/>
        </p:nvPicPr>
        <p:blipFill>
          <a:blip r:embed="rId6"/>
          <a:srcRect t="9159"/>
          <a:stretch>
            <a:fillRect/>
          </a:stretch>
        </p:blipFill>
        <p:spPr>
          <a:xfrm>
            <a:off x="228600" y="1283319"/>
            <a:ext cx="9601200" cy="5814591"/>
          </a:xfrm>
          <a:prstGeom prst="rect">
            <a:avLst/>
          </a:prstGeom>
        </p:spPr>
      </p:pic>
    </p:spTree>
    <p:extLst>
      <p:ext uri="{BB962C8B-B14F-4D97-AF65-F5344CB8AC3E}">
        <p14:creationId xmlns:p14="http://schemas.microsoft.com/office/powerpoint/2010/main" val="1149973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F62A-28CD-1AF0-FCC9-9795D99130CF}"/>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A882BD3-FCF2-C56E-AAE2-C4D14D585E66}"/>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3CC86148-DFF8-3451-7947-2685EE95BD9F}"/>
              </a:ext>
            </a:extLst>
          </p:cNvPr>
          <p:cNvPicPr/>
          <p:nvPr/>
        </p:nvPicPr>
        <p:blipFill>
          <a:blip r:embed="rId2" cstate="print"/>
          <a:stretch>
            <a:fillRect/>
          </a:stretch>
        </p:blipFill>
        <p:spPr>
          <a:xfrm>
            <a:off x="348419" y="226455"/>
            <a:ext cx="1163002" cy="424338"/>
          </a:xfrm>
          <a:prstGeom prst="rect">
            <a:avLst/>
          </a:prstGeom>
        </p:spPr>
      </p:pic>
      <p:grpSp>
        <p:nvGrpSpPr>
          <p:cNvPr id="2" name="object 3">
            <a:extLst>
              <a:ext uri="{FF2B5EF4-FFF2-40B4-BE49-F238E27FC236}">
                <a16:creationId xmlns:a16="http://schemas.microsoft.com/office/drawing/2014/main" id="{A4DF9EE2-487D-D75F-149C-A5A989F91BE8}"/>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1618242D-8DDA-301B-EF8C-793435D7B312}"/>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669F432-648C-72A6-EE1E-52C40A5BB684}"/>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1D43B590-5504-6B74-CBB0-60480CB4BBC8}"/>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82876794-728A-676B-5B3B-0E4A8320CD7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75FAEAFE-5DA8-E3CC-E08A-02ABAA5C5423}"/>
              </a:ext>
            </a:extLst>
          </p:cNvPr>
          <p:cNvSpPr txBox="1"/>
          <p:nvPr/>
        </p:nvSpPr>
        <p:spPr>
          <a:xfrm>
            <a:off x="2895600" y="304800"/>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RELATIONAL</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DATABASE</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SCHEMA</a:t>
            </a:r>
          </a:p>
        </p:txBody>
      </p:sp>
      <p:pic>
        <p:nvPicPr>
          <p:cNvPr id="14" name="Picture 13">
            <a:extLst>
              <a:ext uri="{FF2B5EF4-FFF2-40B4-BE49-F238E27FC236}">
                <a16:creationId xmlns:a16="http://schemas.microsoft.com/office/drawing/2014/main" id="{D9F45E96-C4BF-781D-46C5-26AC7F525280}"/>
              </a:ext>
            </a:extLst>
          </p:cNvPr>
          <p:cNvPicPr>
            <a:picLocks noChangeAspect="1"/>
          </p:cNvPicPr>
          <p:nvPr/>
        </p:nvPicPr>
        <p:blipFill>
          <a:blip r:embed="rId6"/>
          <a:srcRect t="9092"/>
          <a:stretch>
            <a:fillRect/>
          </a:stretch>
        </p:blipFill>
        <p:spPr>
          <a:xfrm>
            <a:off x="0" y="1322610"/>
            <a:ext cx="10058400" cy="5696949"/>
          </a:xfrm>
          <a:prstGeom prst="rect">
            <a:avLst/>
          </a:prstGeom>
        </p:spPr>
      </p:pic>
    </p:spTree>
    <p:extLst>
      <p:ext uri="{BB962C8B-B14F-4D97-AF65-F5344CB8AC3E}">
        <p14:creationId xmlns:p14="http://schemas.microsoft.com/office/powerpoint/2010/main" val="3283178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1103-BED3-D0D1-2B32-DF462A49AD9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86A48A0-7630-F33A-9602-55A8C30FABC0}"/>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4D87CA1E-4756-F08E-63BD-75124D6360A1}"/>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631FFF4E-3585-C131-4111-19552BFBD0ED}"/>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23462C3B-779A-ECC8-E6A0-EBE10897D9C8}"/>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485986-3706-6533-B03D-5A8A8566EDEA}"/>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C06018CA-58C0-7E2C-3046-85D5E75FDF5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48EE4812-0FE8-8F6E-37C0-C1D8649E38B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C996B418-1692-861F-B2FC-D97A6A0DCECA}"/>
              </a:ext>
            </a:extLst>
          </p:cNvPr>
          <p:cNvSpPr txBox="1"/>
          <p:nvPr/>
        </p:nvSpPr>
        <p:spPr>
          <a:xfrm>
            <a:off x="3429000" y="321324"/>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PRIMARY</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&amp;</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FOREIGN</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KEYS</a:t>
            </a:r>
          </a:p>
        </p:txBody>
      </p:sp>
      <p:sp>
        <p:nvSpPr>
          <p:cNvPr id="9" name="TextBox 8">
            <a:extLst>
              <a:ext uri="{FF2B5EF4-FFF2-40B4-BE49-F238E27FC236}">
                <a16:creationId xmlns:a16="http://schemas.microsoft.com/office/drawing/2014/main" id="{A56E2F94-6AD4-B724-E3FB-997227B0055D}"/>
              </a:ext>
            </a:extLst>
          </p:cNvPr>
          <p:cNvSpPr txBox="1"/>
          <p:nvPr/>
        </p:nvSpPr>
        <p:spPr>
          <a:xfrm>
            <a:off x="2514600" y="3704102"/>
            <a:ext cx="5029200" cy="461665"/>
          </a:xfrm>
          <a:prstGeom prst="rect">
            <a:avLst/>
          </a:prstGeom>
          <a:noFill/>
        </p:spPr>
        <p:txBody>
          <a:bodyPr wrap="square">
            <a:spAutoFit/>
          </a:bodyPr>
          <a:lstStyle/>
          <a:p>
            <a:endParaRPr/>
          </a:p>
        </p:txBody>
      </p:sp>
      <p:sp>
        <p:nvSpPr>
          <p:cNvPr id="18" name="TextBox 17"/>
          <p:cNvSpPr txBox="1"/>
          <p:nvPr/>
        </p:nvSpPr>
        <p:spPr>
          <a:xfrm>
            <a:off x="685800" y="1325880"/>
            <a:ext cx="2743200" cy="411480"/>
          </a:xfrm>
          <a:prstGeom prst="rect">
            <a:avLst/>
          </a:prstGeom>
          <a:solidFill>
            <a:srgbClr val="F76600"/>
          </a:solidFill>
          <a:ln w="12700">
            <a:solidFill>
              <a:srgbClr val="F76600"/>
            </a:solidFill>
          </a:ln>
        </p:spPr>
        <p:txBody>
          <a:bodyPr wrap="square" lIns="73152" tIns="73152" rIns="73152" bIns="73152" anchor="t">
            <a:spAutoFit/>
          </a:bodyPr>
          <a:lstStyle/>
          <a:p>
            <a:pPr algn="ctr">
              <a:spcBef>
                <a:spcPts val="0"/>
              </a:spcBef>
              <a:spcAft>
                <a:spcPts val="0"/>
              </a:spcAft>
            </a:pPr>
            <a:r>
              <a:rPr sz="1900" b="1">
                <a:solidFill>
                  <a:srgbClr val="FFFFFF"/>
                </a:solidFill>
                <a:latin typeface="Times New Roman"/>
              </a:rPr>
              <a:t>PRIMARY KEYS</a:t>
            </a:r>
          </a:p>
        </p:txBody>
      </p:sp>
      <p:sp>
        <p:nvSpPr>
          <p:cNvPr id="19" name="TextBox 18"/>
          <p:cNvSpPr txBox="1"/>
          <p:nvPr/>
        </p:nvSpPr>
        <p:spPr>
          <a:xfrm>
            <a:off x="822960" y="1874519"/>
            <a:ext cx="2514600" cy="4297680"/>
          </a:xfrm>
          <a:prstGeom prst="rect">
            <a:avLst/>
          </a:prstGeom>
          <a:noFill/>
          <a:ln>
            <a:noFill/>
          </a:ln>
        </p:spPr>
        <p:txBody>
          <a:bodyPr wrap="square" lIns="45720" tIns="27432" rIns="45720" bIns="27432">
            <a:spAutoFit/>
          </a:bodyPr>
          <a:lstStyle/>
          <a:p>
            <a:pPr>
              <a:lnSpc>
                <a:spcPct val="100000"/>
              </a:lnSpc>
              <a:spcAft>
                <a:spcPts val="300"/>
              </a:spcAft>
              <a:defRPr sz="1700">
                <a:solidFill>
                  <a:srgbClr val="17375E"/>
                </a:solidFill>
                <a:latin typeface="Times New Roman"/>
              </a:defRPr>
            </a:pPr>
            <a:r>
              <a:t>• patient_id</a:t>
            </a:r>
          </a:p>
          <a:p>
            <a:pPr>
              <a:lnSpc>
                <a:spcPct val="100000"/>
              </a:lnSpc>
              <a:spcAft>
                <a:spcPts val="300"/>
              </a:spcAft>
              <a:defRPr sz="1700">
                <a:solidFill>
                  <a:srgbClr val="17375E"/>
                </a:solidFill>
                <a:latin typeface="Times New Roman"/>
              </a:defRPr>
            </a:pPr>
            <a:r>
              <a:t>• doctor_id</a:t>
            </a:r>
          </a:p>
          <a:p>
            <a:pPr>
              <a:lnSpc>
                <a:spcPct val="100000"/>
              </a:lnSpc>
              <a:spcAft>
                <a:spcPts val="300"/>
              </a:spcAft>
              <a:defRPr sz="1700">
                <a:solidFill>
                  <a:srgbClr val="17375E"/>
                </a:solidFill>
                <a:latin typeface="Times New Roman"/>
              </a:defRPr>
            </a:pPr>
            <a:r>
              <a:t>• dept_id</a:t>
            </a:r>
          </a:p>
          <a:p>
            <a:pPr>
              <a:lnSpc>
                <a:spcPct val="100000"/>
              </a:lnSpc>
              <a:spcAft>
                <a:spcPts val="300"/>
              </a:spcAft>
              <a:defRPr sz="1700">
                <a:solidFill>
                  <a:srgbClr val="17375E"/>
                </a:solidFill>
                <a:latin typeface="Times New Roman"/>
              </a:defRPr>
            </a:pPr>
            <a:r>
              <a:t>• ward_id</a:t>
            </a:r>
          </a:p>
          <a:p>
            <a:pPr>
              <a:lnSpc>
                <a:spcPct val="100000"/>
              </a:lnSpc>
              <a:spcAft>
                <a:spcPts val="300"/>
              </a:spcAft>
              <a:defRPr sz="1700">
                <a:solidFill>
                  <a:srgbClr val="17375E"/>
                </a:solidFill>
                <a:latin typeface="Times New Roman"/>
              </a:defRPr>
            </a:pPr>
            <a:r>
              <a:t>• appt_id</a:t>
            </a:r>
          </a:p>
          <a:p>
            <a:pPr>
              <a:lnSpc>
                <a:spcPct val="100000"/>
              </a:lnSpc>
              <a:spcAft>
                <a:spcPts val="300"/>
              </a:spcAft>
              <a:defRPr sz="1700">
                <a:solidFill>
                  <a:srgbClr val="17375E"/>
                </a:solidFill>
                <a:latin typeface="Times New Roman"/>
              </a:defRPr>
            </a:pPr>
            <a:r>
              <a:t>• treatment_id</a:t>
            </a:r>
          </a:p>
          <a:p>
            <a:pPr>
              <a:lnSpc>
                <a:spcPct val="100000"/>
              </a:lnSpc>
              <a:spcAft>
                <a:spcPts val="300"/>
              </a:spcAft>
              <a:defRPr sz="1700">
                <a:solidFill>
                  <a:srgbClr val="17375E"/>
                </a:solidFill>
                <a:latin typeface="Times New Roman"/>
              </a:defRPr>
            </a:pPr>
            <a:r>
              <a:t>• bill_id</a:t>
            </a:r>
          </a:p>
          <a:p>
            <a:pPr>
              <a:lnSpc>
                <a:spcPct val="100000"/>
              </a:lnSpc>
              <a:spcAft>
                <a:spcPts val="300"/>
              </a:spcAft>
              <a:defRPr sz="1700">
                <a:solidFill>
                  <a:srgbClr val="17375E"/>
                </a:solidFill>
                <a:latin typeface="Times New Roman"/>
              </a:defRPr>
            </a:pPr>
            <a:r>
              <a:t>• (patient_id, contact_number)</a:t>
            </a:r>
          </a:p>
          <a:p>
            <a:pPr>
              <a:lnSpc>
                <a:spcPct val="100000"/>
              </a:lnSpc>
              <a:spcAft>
                <a:spcPts val="300"/>
              </a:spcAft>
              <a:defRPr sz="1700">
                <a:solidFill>
                  <a:srgbClr val="17375E"/>
                </a:solidFill>
                <a:latin typeface="Times New Roman"/>
              </a:defRPr>
            </a:pPr>
            <a:r>
              <a:t>• prescription_id</a:t>
            </a:r>
          </a:p>
        </p:txBody>
      </p:sp>
      <p:sp>
        <p:nvSpPr>
          <p:cNvPr id="20" name="TextBox 19"/>
          <p:cNvSpPr txBox="1"/>
          <p:nvPr/>
        </p:nvSpPr>
        <p:spPr>
          <a:xfrm>
            <a:off x="3703320" y="1325880"/>
            <a:ext cx="5394960" cy="411480"/>
          </a:xfrm>
          <a:prstGeom prst="rect">
            <a:avLst/>
          </a:prstGeom>
          <a:solidFill>
            <a:srgbClr val="F76600"/>
          </a:solidFill>
          <a:ln w="12700">
            <a:solidFill>
              <a:srgbClr val="F76600"/>
            </a:solidFill>
          </a:ln>
        </p:spPr>
        <p:txBody>
          <a:bodyPr wrap="square" lIns="73152" tIns="73152" rIns="73152" bIns="73152" anchor="t">
            <a:spAutoFit/>
          </a:bodyPr>
          <a:lstStyle/>
          <a:p>
            <a:pPr algn="ctr">
              <a:spcBef>
                <a:spcPts val="0"/>
              </a:spcBef>
              <a:spcAft>
                <a:spcPts val="0"/>
              </a:spcAft>
            </a:pPr>
            <a:r>
              <a:rPr sz="1900" b="1">
                <a:solidFill>
                  <a:srgbClr val="FFFFFF"/>
                </a:solidFill>
                <a:latin typeface="Times New Roman"/>
              </a:rPr>
              <a:t>FOREIGN KEYS</a:t>
            </a:r>
          </a:p>
        </p:txBody>
      </p:sp>
      <p:sp>
        <p:nvSpPr>
          <p:cNvPr id="21" name="TextBox 20"/>
          <p:cNvSpPr txBox="1"/>
          <p:nvPr/>
        </p:nvSpPr>
        <p:spPr>
          <a:xfrm>
            <a:off x="3794760" y="1874519"/>
            <a:ext cx="5212080" cy="4297680"/>
          </a:xfrm>
          <a:prstGeom prst="rect">
            <a:avLst/>
          </a:prstGeom>
          <a:noFill/>
          <a:ln>
            <a:noFill/>
          </a:ln>
        </p:spPr>
        <p:txBody>
          <a:bodyPr wrap="square" lIns="45720" tIns="27432" rIns="45720" bIns="27432">
            <a:spAutoFit/>
          </a:bodyPr>
          <a:lstStyle/>
          <a:p>
            <a:pPr>
              <a:lnSpc>
                <a:spcPct val="100000"/>
              </a:lnSpc>
              <a:spcAft>
                <a:spcPts val="300"/>
              </a:spcAft>
              <a:defRPr sz="1500">
                <a:solidFill>
                  <a:srgbClr val="17375E"/>
                </a:solidFill>
                <a:latin typeface="Times New Roman"/>
              </a:defRPr>
            </a:pPr>
            <a:r>
              <a:t>• Doctor.dept_id → Department.dept_id</a:t>
            </a:r>
          </a:p>
          <a:p>
            <a:pPr>
              <a:lnSpc>
                <a:spcPct val="100000"/>
              </a:lnSpc>
              <a:spcAft>
                <a:spcPts val="300"/>
              </a:spcAft>
              <a:defRPr sz="1500">
                <a:solidFill>
                  <a:srgbClr val="17375E"/>
                </a:solidFill>
                <a:latin typeface="Times New Roman"/>
              </a:defRPr>
            </a:pPr>
            <a:r>
              <a:t>• Ward.dept_id → Department.dept_id</a:t>
            </a:r>
          </a:p>
          <a:p>
            <a:pPr>
              <a:lnSpc>
                <a:spcPct val="100000"/>
              </a:lnSpc>
              <a:spcAft>
                <a:spcPts val="300"/>
              </a:spcAft>
              <a:defRPr sz="1500">
                <a:solidFill>
                  <a:srgbClr val="17375E"/>
                </a:solidFill>
                <a:latin typeface="Times New Roman"/>
              </a:defRPr>
            </a:pPr>
            <a:r>
              <a:t>• Appointment.patient_id → Patient.patient_id</a:t>
            </a:r>
          </a:p>
          <a:p>
            <a:pPr>
              <a:lnSpc>
                <a:spcPct val="100000"/>
              </a:lnSpc>
              <a:spcAft>
                <a:spcPts val="300"/>
              </a:spcAft>
              <a:defRPr sz="1500">
                <a:solidFill>
                  <a:srgbClr val="17375E"/>
                </a:solidFill>
                <a:latin typeface="Times New Roman"/>
              </a:defRPr>
            </a:pPr>
            <a:r>
              <a:t>• Appointment.doctor_id → Doctor.doctor_id</a:t>
            </a:r>
          </a:p>
          <a:p>
            <a:pPr>
              <a:lnSpc>
                <a:spcPct val="100000"/>
              </a:lnSpc>
              <a:spcAft>
                <a:spcPts val="300"/>
              </a:spcAft>
              <a:defRPr sz="1500">
                <a:solidFill>
                  <a:srgbClr val="17375E"/>
                </a:solidFill>
                <a:latin typeface="Times New Roman"/>
              </a:defRPr>
            </a:pPr>
            <a:r>
              <a:t>• Treatment.appt_id → Appointment.appt_id</a:t>
            </a:r>
          </a:p>
          <a:p>
            <a:pPr>
              <a:lnSpc>
                <a:spcPct val="100000"/>
              </a:lnSpc>
              <a:spcAft>
                <a:spcPts val="300"/>
              </a:spcAft>
              <a:defRPr sz="1500">
                <a:solidFill>
                  <a:srgbClr val="17375E"/>
                </a:solidFill>
                <a:latin typeface="Times New Roman"/>
              </a:defRPr>
            </a:pPr>
            <a:r>
              <a:t>• Treatment.ward_id → Ward.ward_id</a:t>
            </a:r>
          </a:p>
          <a:p>
            <a:pPr>
              <a:lnSpc>
                <a:spcPct val="100000"/>
              </a:lnSpc>
              <a:spcAft>
                <a:spcPts val="300"/>
              </a:spcAft>
              <a:defRPr sz="1500">
                <a:solidFill>
                  <a:srgbClr val="17375E"/>
                </a:solidFill>
                <a:latin typeface="Times New Roman"/>
              </a:defRPr>
            </a:pPr>
            <a:r>
              <a:t>• Bill.patient_id → Patient.patient_id</a:t>
            </a:r>
          </a:p>
          <a:p>
            <a:pPr>
              <a:lnSpc>
                <a:spcPct val="100000"/>
              </a:lnSpc>
              <a:spcAft>
                <a:spcPts val="300"/>
              </a:spcAft>
              <a:defRPr sz="1500">
                <a:solidFill>
                  <a:srgbClr val="17375E"/>
                </a:solidFill>
                <a:latin typeface="Times New Roman"/>
              </a:defRPr>
            </a:pPr>
            <a:r>
              <a:t>• Bill.treatment_id → Treatment.treatment_id</a:t>
            </a:r>
          </a:p>
          <a:p>
            <a:pPr>
              <a:lnSpc>
                <a:spcPct val="100000"/>
              </a:lnSpc>
              <a:spcAft>
                <a:spcPts val="300"/>
              </a:spcAft>
              <a:defRPr sz="1500">
                <a:solidFill>
                  <a:srgbClr val="17375E"/>
                </a:solidFill>
                <a:latin typeface="Times New Roman"/>
              </a:defRPr>
            </a:pPr>
            <a:r>
              <a:t>• Patient_Contact.patient_id → Patient.patient_id</a:t>
            </a:r>
          </a:p>
          <a:p>
            <a:pPr>
              <a:lnSpc>
                <a:spcPct val="100000"/>
              </a:lnSpc>
              <a:spcAft>
                <a:spcPts val="300"/>
              </a:spcAft>
              <a:defRPr sz="1500">
                <a:solidFill>
                  <a:srgbClr val="17375E"/>
                </a:solidFill>
                <a:latin typeface="Times New Roman"/>
              </a:defRPr>
            </a:pPr>
            <a:r>
              <a:t>• Prescription.treatment_id → Treatment.treatment_id</a:t>
            </a:r>
          </a:p>
        </p:txBody>
      </p:sp>
    </p:spTree>
    <p:extLst>
      <p:ext uri="{BB962C8B-B14F-4D97-AF65-F5344CB8AC3E}">
        <p14:creationId xmlns:p14="http://schemas.microsoft.com/office/powerpoint/2010/main" val="151018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GITHUB REPOSITORY &amp; TEAM</a:t>
            </a:r>
          </a:p>
        </p:txBody>
      </p:sp>
      <p:sp>
        <p:nvSpPr>
          <p:cNvPr id="9" name="TextBox 8">
            <a:extLst>
              <a:ext uri="{FF2B5EF4-FFF2-40B4-BE49-F238E27FC236}">
                <a16:creationId xmlns:a16="http://schemas.microsoft.com/office/drawing/2014/main" id="{7A800D15-2389-5516-DA9E-AC441973A9C8}"/>
              </a:ext>
            </a:extLst>
          </p:cNvPr>
          <p:cNvSpPr txBox="1"/>
          <p:nvPr/>
        </p:nvSpPr>
        <p:spPr>
          <a:xfrm>
            <a:off x="1749471" y="2362200"/>
            <a:ext cx="6781800" cy="461665"/>
          </a:xfrm>
          <a:prstGeom prst="rect">
            <a:avLst/>
          </a:prstGeom>
          <a:noFill/>
        </p:spPr>
        <p:txBody>
          <a:bodyPr wrap="square">
            <a:spAutoFit/>
          </a:bodyPr>
          <a:lstStyle/>
          <a:p>
            <a:endParaRPr/>
          </a:p>
        </p:txBody>
      </p:sp>
      <p:sp>
        <p:nvSpPr>
          <p:cNvPr id="18" name="TextBox 17"/>
          <p:cNvSpPr txBox="1"/>
          <p:nvPr/>
        </p:nvSpPr>
        <p:spPr>
          <a:xfrm>
            <a:off x="731520" y="1371600"/>
            <a:ext cx="8595360" cy="424732"/>
          </a:xfrm>
          <a:prstGeom prst="rect">
            <a:avLst/>
          </a:prstGeom>
          <a:solidFill>
            <a:srgbClr val="F2F2F2"/>
          </a:solidFill>
          <a:ln w="12700">
            <a:solidFill>
              <a:srgbClr val="F76600"/>
            </a:solidFill>
          </a:ln>
        </p:spPr>
        <p:txBody>
          <a:bodyPr wrap="square" lIns="73152" tIns="73152" rIns="73152" bIns="73152" anchor="t">
            <a:spAutoFit/>
          </a:bodyPr>
          <a:lstStyle/>
          <a:p>
            <a:pPr algn="ctr">
              <a:spcBef>
                <a:spcPts val="0"/>
              </a:spcBef>
              <a:spcAft>
                <a:spcPts val="0"/>
              </a:spcAft>
            </a:pPr>
            <a:r>
              <a:rPr lang="en-IN" sz="1800" b="1" dirty="0">
                <a:solidFill>
                  <a:srgbClr val="F76600"/>
                </a:solidFill>
                <a:latin typeface="Times New Roman"/>
              </a:rPr>
              <a:t>https://github.com/yuvachandu233-stack/</a:t>
            </a:r>
            <a:r>
              <a:rPr lang="en-IN" sz="1800" b="1" dirty="0">
                <a:solidFill>
                  <a:srgbClr val="F76600"/>
                </a:solidFill>
                <a:latin typeface="Times New Roman"/>
                <a:hlinkClick r:id="rId6"/>
              </a:rPr>
              <a:t>hospital-management-system</a:t>
            </a:r>
            <a:endParaRPr sz="1800" b="1" dirty="0">
              <a:solidFill>
                <a:srgbClr val="F76600"/>
              </a:solidFill>
              <a:latin typeface="Times New Roman"/>
            </a:endParaRPr>
          </a:p>
        </p:txBody>
      </p:sp>
      <p:sp>
        <p:nvSpPr>
          <p:cNvPr id="19" name="TextBox 18"/>
          <p:cNvSpPr txBox="1"/>
          <p:nvPr/>
        </p:nvSpPr>
        <p:spPr>
          <a:xfrm>
            <a:off x="756458" y="2688772"/>
            <a:ext cx="9372600" cy="2740750"/>
          </a:xfrm>
          <a:prstGeom prst="rect">
            <a:avLst/>
          </a:prstGeom>
          <a:noFill/>
          <a:ln>
            <a:noFill/>
          </a:ln>
        </p:spPr>
        <p:txBody>
          <a:bodyPr wrap="square" lIns="45720" tIns="27432" rIns="45720" bIns="27432">
            <a:spAutoFit/>
          </a:bodyPr>
          <a:lstStyle/>
          <a:p>
            <a:pPr algn="just">
              <a:lnSpc>
                <a:spcPct val="100000"/>
              </a:lnSpc>
              <a:spcAft>
                <a:spcPts val="300"/>
              </a:spcAft>
              <a:defRPr sz="1900">
                <a:solidFill>
                  <a:srgbClr val="17375E"/>
                </a:solidFill>
                <a:latin typeface="Times New Roman"/>
              </a:defRPr>
            </a:pPr>
            <a:r>
              <a:rPr dirty="0"/>
              <a:t>•</a:t>
            </a:r>
            <a:r>
              <a:rPr lang="en-US" sz="2000" b="1" dirty="0">
                <a:latin typeface="Times New Roman" panose="02020603050405020304" pitchFamily="18" charset="0"/>
                <a:ea typeface="Palatino Linotype" panose="02040502050505030304" pitchFamily="18" charset="0"/>
                <a:cs typeface="Palatino Linotype" panose="02040502050505030304" pitchFamily="18" charset="0"/>
              </a:rPr>
              <a:t> G.YUVA CHANDU(310)</a:t>
            </a:r>
            <a:r>
              <a:rPr dirty="0"/>
              <a:t>– </a:t>
            </a:r>
            <a:r>
              <a:rPr lang="en-US" dirty="0"/>
              <a:t>TEAM LEAD</a:t>
            </a:r>
          </a:p>
          <a:p>
            <a:pPr algn="just">
              <a:lnSpc>
                <a:spcPct val="100000"/>
              </a:lnSpc>
              <a:spcAft>
                <a:spcPts val="300"/>
              </a:spcAft>
              <a:defRPr sz="1900">
                <a:solidFill>
                  <a:srgbClr val="17375E"/>
                </a:solidFill>
                <a:latin typeface="Times New Roman"/>
              </a:defRPr>
            </a:pPr>
            <a:r>
              <a:rPr dirty="0"/>
              <a:t>coordination, database design and presentation</a:t>
            </a:r>
          </a:p>
          <a:p>
            <a:pPr algn="just">
              <a:lnSpc>
                <a:spcPct val="100000"/>
              </a:lnSpc>
              <a:spcAft>
                <a:spcPts val="300"/>
              </a:spcAft>
              <a:defRPr sz="1900">
                <a:solidFill>
                  <a:srgbClr val="17375E"/>
                </a:solidFill>
                <a:latin typeface="Times New Roman"/>
              </a:defRPr>
            </a:pPr>
            <a:r>
              <a:rPr dirty="0"/>
              <a:t>•</a:t>
            </a:r>
            <a:r>
              <a:rPr lang="en-US" sz="2000" b="1" dirty="0">
                <a:latin typeface="Times New Roman" panose="02020603050405020304" pitchFamily="18" charset="0"/>
                <a:ea typeface="Palatino Linotype" panose="02040502050505030304" pitchFamily="18" charset="0"/>
                <a:cs typeface="Palatino Linotype" panose="02040502050505030304" pitchFamily="18" charset="0"/>
              </a:rPr>
              <a:t> M.SRIHARI(668)</a:t>
            </a:r>
          </a:p>
          <a:p>
            <a:pPr algn="just">
              <a:lnSpc>
                <a:spcPct val="100000"/>
              </a:lnSpc>
              <a:spcAft>
                <a:spcPts val="300"/>
              </a:spcAft>
              <a:defRPr sz="1900">
                <a:solidFill>
                  <a:srgbClr val="17375E"/>
                </a:solidFill>
                <a:latin typeface="Times New Roman"/>
              </a:defRPr>
            </a:pPr>
            <a:r>
              <a:rPr dirty="0"/>
              <a:t>– patient and doctor module</a:t>
            </a:r>
          </a:p>
          <a:p>
            <a:pPr algn="just">
              <a:lnSpc>
                <a:spcPct val="100000"/>
              </a:lnSpc>
              <a:spcAft>
                <a:spcPts val="300"/>
              </a:spcAft>
              <a:defRPr sz="1900">
                <a:solidFill>
                  <a:srgbClr val="17375E"/>
                </a:solidFill>
                <a:latin typeface="Times New Roman"/>
              </a:defRPr>
            </a:pPr>
            <a:r>
              <a:rPr dirty="0"/>
              <a:t>•</a:t>
            </a:r>
            <a:r>
              <a:rPr lang="en-US" sz="2000" b="1" dirty="0">
                <a:latin typeface="Times New Roman" panose="02020603050405020304" pitchFamily="18" charset="0"/>
                <a:ea typeface="Palatino Linotype" panose="02040502050505030304" pitchFamily="18" charset="0"/>
                <a:cs typeface="Palatino Linotype" panose="02040502050505030304" pitchFamily="18" charset="0"/>
              </a:rPr>
              <a:t> Y. ASHOKNANDA(D07)</a:t>
            </a:r>
          </a:p>
          <a:p>
            <a:pPr algn="just">
              <a:lnSpc>
                <a:spcPct val="100000"/>
              </a:lnSpc>
              <a:spcAft>
                <a:spcPts val="300"/>
              </a:spcAft>
              <a:defRPr sz="1900">
                <a:solidFill>
                  <a:srgbClr val="17375E"/>
                </a:solidFill>
                <a:latin typeface="Times New Roman"/>
              </a:defRPr>
            </a:pPr>
            <a:r>
              <a:rPr dirty="0"/>
              <a:t>– appointment and treatment module</a:t>
            </a:r>
          </a:p>
          <a:p>
            <a:pPr algn="just">
              <a:lnSpc>
                <a:spcPct val="100000"/>
              </a:lnSpc>
              <a:spcAft>
                <a:spcPts val="300"/>
              </a:spcAft>
              <a:defRPr sz="1900">
                <a:solidFill>
                  <a:srgbClr val="17375E"/>
                </a:solidFill>
                <a:latin typeface="Times New Roman"/>
              </a:defRPr>
            </a:pPr>
            <a:r>
              <a:rPr dirty="0"/>
              <a:t>• </a:t>
            </a:r>
            <a:r>
              <a:rPr lang="en-US" sz="2000" b="1" dirty="0">
                <a:latin typeface="Times New Roman" panose="02020603050405020304" pitchFamily="18" charset="0"/>
                <a:ea typeface="Palatino Linotype" panose="02040502050505030304" pitchFamily="18" charset="0"/>
                <a:cs typeface="Palatino Linotype" panose="02040502050505030304" pitchFamily="18" charset="0"/>
              </a:rPr>
              <a:t>K. PADMAKARA CHOWDARY (489)</a:t>
            </a:r>
          </a:p>
          <a:p>
            <a:pPr algn="just">
              <a:lnSpc>
                <a:spcPct val="100000"/>
              </a:lnSpc>
              <a:spcAft>
                <a:spcPts val="300"/>
              </a:spcAft>
              <a:defRPr sz="1900">
                <a:solidFill>
                  <a:srgbClr val="17375E"/>
                </a:solidFill>
                <a:latin typeface="Times New Roman"/>
              </a:defRPr>
            </a:pPr>
            <a:r>
              <a:rPr dirty="0"/>
              <a:t>– billing, testing and documentation</a:t>
            </a:r>
          </a:p>
        </p:txBody>
      </p:sp>
      <p:sp>
        <p:nvSpPr>
          <p:cNvPr id="12" name="TextBox 11">
            <a:extLst>
              <a:ext uri="{FF2B5EF4-FFF2-40B4-BE49-F238E27FC236}">
                <a16:creationId xmlns:a16="http://schemas.microsoft.com/office/drawing/2014/main" id="{02F7E783-D085-9101-D786-6367C670003F}"/>
              </a:ext>
            </a:extLst>
          </p:cNvPr>
          <p:cNvSpPr txBox="1"/>
          <p:nvPr/>
        </p:nvSpPr>
        <p:spPr>
          <a:xfrm>
            <a:off x="731520" y="2126467"/>
            <a:ext cx="3566160" cy="393954"/>
          </a:xfrm>
          <a:prstGeom prst="rect">
            <a:avLst/>
          </a:prstGeom>
          <a:solidFill>
            <a:srgbClr val="F76600"/>
          </a:solidFill>
          <a:ln w="12700">
            <a:solidFill>
              <a:srgbClr val="F76600"/>
            </a:solidFill>
          </a:ln>
        </p:spPr>
        <p:txBody>
          <a:bodyPr wrap="square" lIns="73152" tIns="73152" rIns="73152" bIns="73152" anchor="t">
            <a:spAutoFit/>
          </a:bodyPr>
          <a:lstStyle/>
          <a:p>
            <a:pPr algn="ctr">
              <a:spcBef>
                <a:spcPts val="0"/>
              </a:spcBef>
              <a:spcAft>
                <a:spcPts val="0"/>
              </a:spcAft>
            </a:pPr>
            <a:r>
              <a:rPr lang="en-IN" sz="1600" dirty="0">
                <a:solidFill>
                  <a:schemeClr val="bg1"/>
                </a:solidFill>
              </a:rPr>
              <a:t>TEAM CONTRIBUTION</a:t>
            </a:r>
            <a:endParaRPr sz="1700" b="1" dirty="0">
              <a:solidFill>
                <a:schemeClr val="bg1"/>
              </a:solidFill>
              <a:latin typeface="Times New Roman"/>
            </a:endParaRPr>
          </a:p>
        </p:txBody>
      </p:sp>
    </p:spTree>
    <p:extLst>
      <p:ext uri="{BB962C8B-B14F-4D97-AF65-F5344CB8AC3E}">
        <p14:creationId xmlns:p14="http://schemas.microsoft.com/office/powerpoint/2010/main" val="2607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3032125"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endParaRPr sz="2000" dirty="0">
              <a:latin typeface="Times New Roman" panose="02020603050405020304" pitchFamily="18" charset="0"/>
              <a:cs typeface="Times New Roman" panose="02020603050405020304" pitchFamily="18" charset="0"/>
            </a:endParaRP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2971800" y="346911"/>
            <a:ext cx="3773462" cy="278281"/>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1700" b="1" dirty="0">
                <a:solidFill>
                  <a:schemeClr val="bg1"/>
                </a:solidFill>
                <a:latin typeface="Times New Roman" panose="02020603050405020304" pitchFamily="18" charset="0"/>
                <a:cs typeface="Times New Roman" panose="02020603050405020304" pitchFamily="18" charset="0"/>
              </a:rPr>
              <a:t>REVIEW – II : IMPLEMENTATION</a:t>
            </a:r>
          </a:p>
        </p:txBody>
      </p:sp>
      <p:sp>
        <p:nvSpPr>
          <p:cNvPr id="11" name="TextBox 10"/>
          <p:cNvSpPr txBox="1"/>
          <p:nvPr/>
        </p:nvSpPr>
        <p:spPr>
          <a:xfrm>
            <a:off x="311070" y="1231981"/>
            <a:ext cx="8747760" cy="978729"/>
          </a:xfrm>
          <a:prstGeom prst="rect">
            <a:avLst/>
          </a:prstGeom>
          <a:noFill/>
          <a:ln>
            <a:noFill/>
          </a:ln>
        </p:spPr>
        <p:txBody>
          <a:bodyPr wrap="square" lIns="73152" tIns="73152" rIns="73152" bIns="73152" anchor="t">
            <a:spAutoFit/>
          </a:bodyPr>
          <a:lstStyle/>
          <a:p>
            <a:pPr algn="just">
              <a:spcBef>
                <a:spcPts val="0"/>
              </a:spcBef>
              <a:spcAft>
                <a:spcPts val="0"/>
              </a:spcAft>
            </a:pPr>
            <a:r>
              <a:rPr sz="1800" b="0" dirty="0">
                <a:solidFill>
                  <a:srgbClr val="17375E"/>
                </a:solidFill>
                <a:latin typeface="Times New Roman"/>
              </a:rPr>
              <a:t>Review II focuses on implementing the designed relational database and demonstrating tables, constraints, sample data, SQL operations, CRUD functionality, queries, views and data validation.</a:t>
            </a:r>
          </a:p>
        </p:txBody>
      </p:sp>
      <p:sp>
        <p:nvSpPr>
          <p:cNvPr id="12" name="TextBox 11"/>
          <p:cNvSpPr txBox="1"/>
          <p:nvPr/>
        </p:nvSpPr>
        <p:spPr>
          <a:xfrm>
            <a:off x="381000" y="2117051"/>
            <a:ext cx="7223760" cy="1909754"/>
          </a:xfrm>
          <a:prstGeom prst="rect">
            <a:avLst/>
          </a:prstGeom>
          <a:noFill/>
          <a:ln>
            <a:noFill/>
          </a:ln>
        </p:spPr>
        <p:txBody>
          <a:bodyPr wrap="square" lIns="45720" tIns="27432" rIns="45720" bIns="27432">
            <a:spAutoFit/>
          </a:bodyPr>
          <a:lstStyle/>
          <a:p>
            <a:pPr algn="just">
              <a:lnSpc>
                <a:spcPct val="100000"/>
              </a:lnSpc>
              <a:spcAft>
                <a:spcPts val="300"/>
              </a:spcAft>
              <a:defRPr sz="1800">
                <a:solidFill>
                  <a:srgbClr val="17375E"/>
                </a:solidFill>
                <a:latin typeface="Times New Roman"/>
              </a:defRPr>
            </a:pPr>
            <a:r>
              <a:rPr dirty="0"/>
              <a:t>• Create MySQL database tables and constraints</a:t>
            </a:r>
          </a:p>
          <a:p>
            <a:pPr algn="just">
              <a:lnSpc>
                <a:spcPct val="100000"/>
              </a:lnSpc>
              <a:spcAft>
                <a:spcPts val="300"/>
              </a:spcAft>
              <a:defRPr sz="1800">
                <a:solidFill>
                  <a:srgbClr val="17375E"/>
                </a:solidFill>
                <a:latin typeface="Times New Roman"/>
              </a:defRPr>
            </a:pPr>
            <a:r>
              <a:rPr dirty="0"/>
              <a:t>• Insert representative data into all entities</a:t>
            </a:r>
          </a:p>
          <a:p>
            <a:pPr algn="just">
              <a:lnSpc>
                <a:spcPct val="100000"/>
              </a:lnSpc>
              <a:spcAft>
                <a:spcPts val="300"/>
              </a:spcAft>
              <a:defRPr sz="1800">
                <a:solidFill>
                  <a:srgbClr val="17375E"/>
                </a:solidFill>
                <a:latin typeface="Times New Roman"/>
              </a:defRPr>
            </a:pPr>
            <a:r>
              <a:rPr dirty="0"/>
              <a:t>• Demonstrate DDL, DML and DQL operations</a:t>
            </a:r>
          </a:p>
          <a:p>
            <a:pPr algn="just">
              <a:lnSpc>
                <a:spcPct val="100000"/>
              </a:lnSpc>
              <a:spcAft>
                <a:spcPts val="300"/>
              </a:spcAft>
              <a:defRPr sz="1800">
                <a:solidFill>
                  <a:srgbClr val="17375E"/>
                </a:solidFill>
                <a:latin typeface="Times New Roman"/>
              </a:defRPr>
            </a:pPr>
            <a:r>
              <a:rPr dirty="0"/>
              <a:t>• Perform CRUD, JOIN, aggregate and subquery operations</a:t>
            </a:r>
          </a:p>
          <a:p>
            <a:pPr algn="just">
              <a:lnSpc>
                <a:spcPct val="100000"/>
              </a:lnSpc>
              <a:spcAft>
                <a:spcPts val="300"/>
              </a:spcAft>
              <a:defRPr sz="1800">
                <a:solidFill>
                  <a:srgbClr val="17375E"/>
                </a:solidFill>
                <a:latin typeface="Times New Roman"/>
              </a:defRPr>
            </a:pPr>
            <a:r>
              <a:rPr dirty="0"/>
              <a:t>• Create views and validate data integrity</a:t>
            </a:r>
          </a:p>
          <a:p>
            <a:pPr algn="just">
              <a:lnSpc>
                <a:spcPct val="100000"/>
              </a:lnSpc>
              <a:spcAft>
                <a:spcPts val="300"/>
              </a:spcAft>
              <a:defRPr sz="1800">
                <a:solidFill>
                  <a:srgbClr val="17375E"/>
                </a:solidFill>
                <a:latin typeface="Times New Roman"/>
              </a:defRPr>
            </a:pPr>
            <a:r>
              <a:rPr dirty="0"/>
              <a:t>• Complete documentation and present the working database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DATABASE &amp; CONSTRAINTS</a:t>
            </a:r>
          </a:p>
        </p:txBody>
      </p:sp>
      <p:pic>
        <p:nvPicPr>
          <p:cNvPr id="10" name="Picture 9">
            <a:extLst>
              <a:ext uri="{FF2B5EF4-FFF2-40B4-BE49-F238E27FC236}">
                <a16:creationId xmlns:a16="http://schemas.microsoft.com/office/drawing/2014/main" id="{7EBAFAB7-6AF4-AF2A-9CD9-E615BEDAF0DA}"/>
              </a:ext>
            </a:extLst>
          </p:cNvPr>
          <p:cNvPicPr>
            <a:picLocks noChangeAspect="1"/>
          </p:cNvPicPr>
          <p:nvPr/>
        </p:nvPicPr>
        <p:blipFill>
          <a:blip r:embed="rId6"/>
          <a:srcRect t="5979"/>
          <a:stretch>
            <a:fillRect/>
          </a:stretch>
        </p:blipFill>
        <p:spPr>
          <a:xfrm>
            <a:off x="0" y="934336"/>
            <a:ext cx="10058400" cy="6304664"/>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9" name="TextBox 8">
            <a:extLst>
              <a:ext uri="{FF2B5EF4-FFF2-40B4-BE49-F238E27FC236}">
                <a16:creationId xmlns:a16="http://schemas.microsoft.com/office/drawing/2014/main" id="{7A800D15-2389-5516-DA9E-AC441973A9C8}"/>
              </a:ext>
            </a:extLst>
          </p:cNvPr>
          <p:cNvSpPr txBox="1"/>
          <p:nvPr/>
        </p:nvSpPr>
        <p:spPr>
          <a:xfrm>
            <a:off x="1749471" y="2362200"/>
            <a:ext cx="6781800" cy="461665"/>
          </a:xfrm>
          <a:prstGeom prst="rect">
            <a:avLst/>
          </a:prstGeom>
          <a:noFill/>
        </p:spPr>
        <p:txBody>
          <a:bodyPr wrap="square">
            <a:spAutoFit/>
          </a:bodyPr>
          <a:lstStyle/>
          <a:p>
            <a:endParaRPr/>
          </a:p>
        </p:txBody>
      </p:sp>
      <p:sp>
        <p:nvSpPr>
          <p:cNvPr id="18" name="TextBox 17"/>
          <p:cNvSpPr txBox="1"/>
          <p:nvPr/>
        </p:nvSpPr>
        <p:spPr>
          <a:xfrm>
            <a:off x="640080" y="1280160"/>
            <a:ext cx="8686800" cy="530352"/>
          </a:xfrm>
          <a:prstGeom prst="rect">
            <a:avLst/>
          </a:prstGeom>
          <a:noFill/>
          <a:ln>
            <a:noFill/>
          </a:ln>
        </p:spPr>
        <p:txBody>
          <a:bodyPr wrap="square" lIns="73152" tIns="73152" rIns="73152" bIns="73152" anchor="t">
            <a:spAutoFit/>
          </a:bodyPr>
          <a:lstStyle/>
          <a:p>
            <a:pPr algn="l">
              <a:spcBef>
                <a:spcPts val="0"/>
              </a:spcBef>
              <a:spcAft>
                <a:spcPts val="0"/>
              </a:spcAft>
            </a:pPr>
            <a:r>
              <a:rPr sz="1700" b="0">
                <a:solidFill>
                  <a:srgbClr val="17375E"/>
                </a:solidFill>
                <a:latin typeface="Times New Roman"/>
              </a:rPr>
              <a:t>Sufficient sample data is inserted into all major tables to demonstrate database functionality and relationships.</a:t>
            </a:r>
          </a:p>
        </p:txBody>
      </p:sp>
      <p:sp>
        <p:nvSpPr>
          <p:cNvPr id="19" name="TextBox 18"/>
          <p:cNvSpPr txBox="1"/>
          <p:nvPr/>
        </p:nvSpPr>
        <p:spPr>
          <a:xfrm>
            <a:off x="914400" y="2011680"/>
            <a:ext cx="3886200" cy="2560320"/>
          </a:xfrm>
          <a:prstGeom prst="rect">
            <a:avLst/>
          </a:prstGeom>
          <a:noFill/>
          <a:ln>
            <a:noFill/>
          </a:ln>
        </p:spPr>
        <p:txBody>
          <a:bodyPr wrap="square" lIns="45720" tIns="27432" rIns="45720" bIns="27432">
            <a:spAutoFit/>
          </a:bodyPr>
          <a:lstStyle/>
          <a:p>
            <a:pPr>
              <a:lnSpc>
                <a:spcPct val="100000"/>
              </a:lnSpc>
              <a:spcAft>
                <a:spcPts val="300"/>
              </a:spcAft>
              <a:defRPr sz="1800">
                <a:solidFill>
                  <a:srgbClr val="17375E"/>
                </a:solidFill>
                <a:latin typeface="Times New Roman"/>
              </a:defRPr>
            </a:pPr>
            <a:r>
              <a:t>• Patient – 10 records</a:t>
            </a:r>
          </a:p>
          <a:p>
            <a:pPr>
              <a:lnSpc>
                <a:spcPct val="100000"/>
              </a:lnSpc>
              <a:spcAft>
                <a:spcPts val="300"/>
              </a:spcAft>
              <a:defRPr sz="1800">
                <a:solidFill>
                  <a:srgbClr val="17375E"/>
                </a:solidFill>
                <a:latin typeface="Times New Roman"/>
              </a:defRPr>
            </a:pPr>
            <a:r>
              <a:t>• Doctor – 10 records</a:t>
            </a:r>
          </a:p>
          <a:p>
            <a:pPr>
              <a:lnSpc>
                <a:spcPct val="100000"/>
              </a:lnSpc>
              <a:spcAft>
                <a:spcPts val="300"/>
              </a:spcAft>
              <a:defRPr sz="1800">
                <a:solidFill>
                  <a:srgbClr val="17375E"/>
                </a:solidFill>
                <a:latin typeface="Times New Roman"/>
              </a:defRPr>
            </a:pPr>
            <a:r>
              <a:t>• Department – 5 records</a:t>
            </a:r>
          </a:p>
          <a:p>
            <a:pPr>
              <a:lnSpc>
                <a:spcPct val="100000"/>
              </a:lnSpc>
              <a:spcAft>
                <a:spcPts val="300"/>
              </a:spcAft>
              <a:defRPr sz="1800">
                <a:solidFill>
                  <a:srgbClr val="17375E"/>
                </a:solidFill>
                <a:latin typeface="Times New Roman"/>
              </a:defRPr>
            </a:pPr>
            <a:r>
              <a:t>• Ward – 5 records</a:t>
            </a:r>
          </a:p>
          <a:p>
            <a:pPr>
              <a:lnSpc>
                <a:spcPct val="100000"/>
              </a:lnSpc>
              <a:spcAft>
                <a:spcPts val="300"/>
              </a:spcAft>
              <a:defRPr sz="1800">
                <a:solidFill>
                  <a:srgbClr val="17375E"/>
                </a:solidFill>
                <a:latin typeface="Times New Roman"/>
              </a:defRPr>
            </a:pPr>
            <a:r>
              <a:t>• Appointment – 10 records</a:t>
            </a:r>
          </a:p>
        </p:txBody>
      </p:sp>
      <p:sp>
        <p:nvSpPr>
          <p:cNvPr id="20" name="TextBox 19"/>
          <p:cNvSpPr txBox="1"/>
          <p:nvPr/>
        </p:nvSpPr>
        <p:spPr>
          <a:xfrm>
            <a:off x="5074920" y="2011680"/>
            <a:ext cx="3657600" cy="2560320"/>
          </a:xfrm>
          <a:prstGeom prst="rect">
            <a:avLst/>
          </a:prstGeom>
          <a:noFill/>
          <a:ln>
            <a:noFill/>
          </a:ln>
        </p:spPr>
        <p:txBody>
          <a:bodyPr wrap="square" lIns="45720" tIns="27432" rIns="45720" bIns="27432">
            <a:spAutoFit/>
          </a:bodyPr>
          <a:lstStyle/>
          <a:p>
            <a:pPr>
              <a:lnSpc>
                <a:spcPct val="100000"/>
              </a:lnSpc>
              <a:spcAft>
                <a:spcPts val="300"/>
              </a:spcAft>
              <a:defRPr sz="1800">
                <a:solidFill>
                  <a:srgbClr val="17375E"/>
                </a:solidFill>
                <a:latin typeface="Times New Roman"/>
              </a:defRPr>
            </a:pPr>
            <a:r>
              <a:t>• Treatment – 10 records</a:t>
            </a:r>
          </a:p>
          <a:p>
            <a:pPr>
              <a:lnSpc>
                <a:spcPct val="100000"/>
              </a:lnSpc>
              <a:spcAft>
                <a:spcPts val="300"/>
              </a:spcAft>
              <a:defRPr sz="1800">
                <a:solidFill>
                  <a:srgbClr val="17375E"/>
                </a:solidFill>
                <a:latin typeface="Times New Roman"/>
              </a:defRPr>
            </a:pPr>
            <a:r>
              <a:t>• Bill – 10 records</a:t>
            </a:r>
          </a:p>
          <a:p>
            <a:pPr>
              <a:lnSpc>
                <a:spcPct val="100000"/>
              </a:lnSpc>
              <a:spcAft>
                <a:spcPts val="300"/>
              </a:spcAft>
              <a:defRPr sz="1800">
                <a:solidFill>
                  <a:srgbClr val="17375E"/>
                </a:solidFill>
                <a:latin typeface="Times New Roman"/>
              </a:defRPr>
            </a:pPr>
            <a:r>
              <a:t>• Patient_Contact – 10+ records</a:t>
            </a:r>
          </a:p>
          <a:p>
            <a:pPr>
              <a:lnSpc>
                <a:spcPct val="100000"/>
              </a:lnSpc>
              <a:spcAft>
                <a:spcPts val="300"/>
              </a:spcAft>
              <a:defRPr sz="1800">
                <a:solidFill>
                  <a:srgbClr val="17375E"/>
                </a:solidFill>
                <a:latin typeface="Times New Roman"/>
              </a:defRPr>
            </a:pPr>
            <a:r>
              <a:t>• Prescription – sample records</a:t>
            </a:r>
          </a:p>
        </p:txBody>
      </p:sp>
      <p:sp>
        <p:nvSpPr>
          <p:cNvPr id="10" name="TextBox 9">
            <a:extLst>
              <a:ext uri="{FF2B5EF4-FFF2-40B4-BE49-F238E27FC236}">
                <a16:creationId xmlns:a16="http://schemas.microsoft.com/office/drawing/2014/main" id="{B5957B9A-1312-5A96-CF59-D7A8527A6A64}"/>
              </a:ext>
            </a:extLst>
          </p:cNvPr>
          <p:cNvSpPr txBox="1"/>
          <p:nvPr/>
        </p:nvSpPr>
        <p:spPr>
          <a:xfrm>
            <a:off x="667489" y="4161499"/>
            <a:ext cx="8321040" cy="400110"/>
          </a:xfrm>
          <a:prstGeom prst="rect">
            <a:avLst/>
          </a:prstGeom>
          <a:solidFill>
            <a:srgbClr val="F2F2F2"/>
          </a:solidFill>
          <a:ln w="12700">
            <a:solidFill>
              <a:srgbClr val="17375E"/>
            </a:solidFill>
          </a:ln>
        </p:spPr>
        <p:txBody>
          <a:bodyPr wrap="square" tIns="91440" bIns="91440" anchor="t">
            <a:spAutoFit/>
          </a:bodyPr>
          <a:lstStyle/>
          <a:p>
            <a:pPr algn="ctr"/>
            <a:r>
              <a:rPr lang="en-IN" sz="1400" dirty="0">
                <a:hlinkClick r:id="rId6"/>
              </a:rPr>
              <a:t>https://dbfiddle.dev/postgres?checkpoint=1790499877</a:t>
            </a:r>
            <a:endParaRPr lang="en-IN" sz="1400" dirty="0"/>
          </a:p>
        </p:txBody>
      </p:sp>
    </p:spTree>
    <p:extLst>
      <p:ext uri="{BB962C8B-B14F-4D97-AF65-F5344CB8AC3E}">
        <p14:creationId xmlns:p14="http://schemas.microsoft.com/office/powerpoint/2010/main" val="26077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DDL, DML &amp; DQL OPERATIONS</a:t>
            </a:r>
          </a:p>
        </p:txBody>
      </p:sp>
      <p:sp>
        <p:nvSpPr>
          <p:cNvPr id="9" name="TextBox 8">
            <a:extLst>
              <a:ext uri="{FF2B5EF4-FFF2-40B4-BE49-F238E27FC236}">
                <a16:creationId xmlns:a16="http://schemas.microsoft.com/office/drawing/2014/main" id="{7A800D15-2389-5516-DA9E-AC441973A9C8}"/>
              </a:ext>
            </a:extLst>
          </p:cNvPr>
          <p:cNvSpPr txBox="1"/>
          <p:nvPr/>
        </p:nvSpPr>
        <p:spPr>
          <a:xfrm>
            <a:off x="1749471" y="2018121"/>
            <a:ext cx="6781800" cy="461665"/>
          </a:xfrm>
          <a:prstGeom prst="rect">
            <a:avLst/>
          </a:prstGeom>
          <a:noFill/>
        </p:spPr>
        <p:txBody>
          <a:bodyPr wrap="square">
            <a:spAutoFit/>
          </a:bodyPr>
          <a:lstStyle/>
          <a:p>
            <a:endParaRPr/>
          </a:p>
        </p:txBody>
      </p:sp>
      <p:sp>
        <p:nvSpPr>
          <p:cNvPr id="18" name="TextBox 17"/>
          <p:cNvSpPr txBox="1"/>
          <p:nvPr/>
        </p:nvSpPr>
        <p:spPr>
          <a:xfrm>
            <a:off x="594360" y="1073241"/>
            <a:ext cx="2743200" cy="438912"/>
          </a:xfrm>
          <a:prstGeom prst="rect">
            <a:avLst/>
          </a:prstGeom>
          <a:solidFill>
            <a:srgbClr val="F76600"/>
          </a:solidFill>
          <a:ln w="12700">
            <a:solidFill>
              <a:srgbClr val="F76600"/>
            </a:solidFill>
          </a:ln>
        </p:spPr>
        <p:txBody>
          <a:bodyPr wrap="square" lIns="73152" tIns="73152" rIns="73152" bIns="73152" anchor="t">
            <a:spAutoFit/>
          </a:bodyPr>
          <a:lstStyle/>
          <a:p>
            <a:pPr algn="ctr">
              <a:spcBef>
                <a:spcPts val="0"/>
              </a:spcBef>
              <a:spcAft>
                <a:spcPts val="0"/>
              </a:spcAft>
            </a:pPr>
            <a:r>
              <a:rPr sz="1800" b="1">
                <a:solidFill>
                  <a:srgbClr val="FFFFFF"/>
                </a:solidFill>
                <a:latin typeface="Times New Roman"/>
              </a:rPr>
              <a:t>DDL</a:t>
            </a:r>
          </a:p>
        </p:txBody>
      </p:sp>
      <p:sp>
        <p:nvSpPr>
          <p:cNvPr id="19" name="TextBox 18"/>
          <p:cNvSpPr txBox="1"/>
          <p:nvPr/>
        </p:nvSpPr>
        <p:spPr>
          <a:xfrm>
            <a:off x="594360" y="1557873"/>
            <a:ext cx="2743200" cy="731520"/>
          </a:xfrm>
          <a:prstGeom prst="rect">
            <a:avLst/>
          </a:prstGeom>
          <a:solidFill>
            <a:srgbClr val="F2F2F2"/>
          </a:solidFill>
          <a:ln w="12700">
            <a:solidFill>
              <a:srgbClr val="17375E"/>
            </a:solidFill>
          </a:ln>
        </p:spPr>
        <p:txBody>
          <a:bodyPr wrap="square" lIns="73152" tIns="73152" rIns="73152" bIns="73152" anchor="t">
            <a:spAutoFit/>
          </a:bodyPr>
          <a:lstStyle/>
          <a:p>
            <a:pPr algn="ctr">
              <a:spcBef>
                <a:spcPts val="0"/>
              </a:spcBef>
              <a:spcAft>
                <a:spcPts val="0"/>
              </a:spcAft>
            </a:pPr>
            <a:r>
              <a:rPr sz="1600" b="0" dirty="0">
                <a:solidFill>
                  <a:srgbClr val="17375E"/>
                </a:solidFill>
                <a:latin typeface="Times New Roman"/>
              </a:rPr>
              <a:t>CREATE • ALTER • DROP • TRUNCATE</a:t>
            </a:r>
          </a:p>
        </p:txBody>
      </p:sp>
      <p:sp>
        <p:nvSpPr>
          <p:cNvPr id="20" name="TextBox 19"/>
          <p:cNvSpPr txBox="1"/>
          <p:nvPr/>
        </p:nvSpPr>
        <p:spPr>
          <a:xfrm>
            <a:off x="3657600" y="1073241"/>
            <a:ext cx="2743200" cy="438912"/>
          </a:xfrm>
          <a:prstGeom prst="rect">
            <a:avLst/>
          </a:prstGeom>
          <a:solidFill>
            <a:srgbClr val="F76600"/>
          </a:solidFill>
          <a:ln w="12700">
            <a:solidFill>
              <a:srgbClr val="F76600"/>
            </a:solidFill>
          </a:ln>
        </p:spPr>
        <p:txBody>
          <a:bodyPr wrap="square" lIns="73152" tIns="73152" rIns="73152" bIns="73152" anchor="t">
            <a:spAutoFit/>
          </a:bodyPr>
          <a:lstStyle/>
          <a:p>
            <a:pPr algn="ctr">
              <a:spcBef>
                <a:spcPts val="0"/>
              </a:spcBef>
              <a:spcAft>
                <a:spcPts val="0"/>
              </a:spcAft>
            </a:pPr>
            <a:r>
              <a:rPr sz="1800" b="1">
                <a:solidFill>
                  <a:srgbClr val="FFFFFF"/>
                </a:solidFill>
                <a:latin typeface="Times New Roman"/>
              </a:rPr>
              <a:t>DML</a:t>
            </a:r>
          </a:p>
        </p:txBody>
      </p:sp>
      <p:sp>
        <p:nvSpPr>
          <p:cNvPr id="21" name="TextBox 20"/>
          <p:cNvSpPr txBox="1"/>
          <p:nvPr/>
        </p:nvSpPr>
        <p:spPr>
          <a:xfrm>
            <a:off x="3657600" y="1557873"/>
            <a:ext cx="2743200" cy="731520"/>
          </a:xfrm>
          <a:prstGeom prst="rect">
            <a:avLst/>
          </a:prstGeom>
          <a:solidFill>
            <a:srgbClr val="F2F2F2"/>
          </a:solidFill>
          <a:ln w="12700">
            <a:solidFill>
              <a:srgbClr val="17375E"/>
            </a:solidFill>
          </a:ln>
        </p:spPr>
        <p:txBody>
          <a:bodyPr wrap="square" lIns="73152" tIns="73152" rIns="73152" bIns="73152" anchor="t">
            <a:spAutoFit/>
          </a:bodyPr>
          <a:lstStyle/>
          <a:p>
            <a:pPr algn="ctr">
              <a:spcBef>
                <a:spcPts val="0"/>
              </a:spcBef>
              <a:spcAft>
                <a:spcPts val="0"/>
              </a:spcAft>
            </a:pPr>
            <a:r>
              <a:rPr sz="1600" b="0">
                <a:solidFill>
                  <a:srgbClr val="17375E"/>
                </a:solidFill>
                <a:latin typeface="Times New Roman"/>
              </a:rPr>
              <a:t>INSERT • UPDATE • DELETE</a:t>
            </a:r>
          </a:p>
        </p:txBody>
      </p:sp>
      <p:sp>
        <p:nvSpPr>
          <p:cNvPr id="22" name="TextBox 21"/>
          <p:cNvSpPr txBox="1"/>
          <p:nvPr/>
        </p:nvSpPr>
        <p:spPr>
          <a:xfrm>
            <a:off x="6720840" y="1073241"/>
            <a:ext cx="2743200" cy="438912"/>
          </a:xfrm>
          <a:prstGeom prst="rect">
            <a:avLst/>
          </a:prstGeom>
          <a:solidFill>
            <a:srgbClr val="F76600"/>
          </a:solidFill>
          <a:ln w="12700">
            <a:solidFill>
              <a:srgbClr val="F76600"/>
            </a:solidFill>
          </a:ln>
        </p:spPr>
        <p:txBody>
          <a:bodyPr wrap="square" lIns="73152" tIns="73152" rIns="73152" bIns="73152" anchor="t">
            <a:spAutoFit/>
          </a:bodyPr>
          <a:lstStyle/>
          <a:p>
            <a:pPr algn="ctr">
              <a:spcBef>
                <a:spcPts val="0"/>
              </a:spcBef>
              <a:spcAft>
                <a:spcPts val="0"/>
              </a:spcAft>
            </a:pPr>
            <a:r>
              <a:rPr sz="1800" b="1">
                <a:solidFill>
                  <a:srgbClr val="FFFFFF"/>
                </a:solidFill>
                <a:latin typeface="Times New Roman"/>
              </a:rPr>
              <a:t>DQL</a:t>
            </a:r>
          </a:p>
        </p:txBody>
      </p:sp>
      <p:sp>
        <p:nvSpPr>
          <p:cNvPr id="23" name="TextBox 22"/>
          <p:cNvSpPr txBox="1"/>
          <p:nvPr/>
        </p:nvSpPr>
        <p:spPr>
          <a:xfrm>
            <a:off x="6720840" y="1557873"/>
            <a:ext cx="2743200" cy="731520"/>
          </a:xfrm>
          <a:prstGeom prst="rect">
            <a:avLst/>
          </a:prstGeom>
          <a:solidFill>
            <a:srgbClr val="F2F2F2"/>
          </a:solidFill>
          <a:ln w="12700">
            <a:solidFill>
              <a:srgbClr val="17375E"/>
            </a:solidFill>
          </a:ln>
        </p:spPr>
        <p:txBody>
          <a:bodyPr wrap="square" lIns="73152" tIns="73152" rIns="73152" bIns="73152" anchor="t">
            <a:spAutoFit/>
          </a:bodyPr>
          <a:lstStyle/>
          <a:p>
            <a:pPr algn="ctr">
              <a:spcBef>
                <a:spcPts val="0"/>
              </a:spcBef>
              <a:spcAft>
                <a:spcPts val="0"/>
              </a:spcAft>
            </a:pPr>
            <a:r>
              <a:rPr sz="1600" b="0">
                <a:solidFill>
                  <a:srgbClr val="17375E"/>
                </a:solidFill>
                <a:latin typeface="Times New Roman"/>
              </a:rPr>
              <a:t>SELECT</a:t>
            </a:r>
          </a:p>
        </p:txBody>
      </p:sp>
      <p:sp>
        <p:nvSpPr>
          <p:cNvPr id="24" name="TextBox 23"/>
          <p:cNvSpPr txBox="1"/>
          <p:nvPr/>
        </p:nvSpPr>
        <p:spPr>
          <a:xfrm>
            <a:off x="1173819" y="2465375"/>
            <a:ext cx="7772400" cy="461665"/>
          </a:xfrm>
          <a:prstGeom prst="rect">
            <a:avLst/>
          </a:prstGeom>
          <a:solidFill>
            <a:srgbClr val="F2F2F2"/>
          </a:solidFill>
          <a:ln w="12700">
            <a:solidFill>
              <a:srgbClr val="17375E"/>
            </a:solidFill>
          </a:ln>
        </p:spPr>
        <p:txBody>
          <a:bodyPr wrap="square" tIns="91440" bIns="91440" anchor="t">
            <a:spAutoFit/>
          </a:bodyPr>
          <a:lstStyle/>
          <a:p>
            <a:pPr algn="ctr">
              <a:spcBef>
                <a:spcPts val="0"/>
              </a:spcBef>
              <a:spcAft>
                <a:spcPts val="0"/>
              </a:spcAft>
            </a:pPr>
            <a:r>
              <a:rPr sz="1800" b="1" dirty="0">
                <a:solidFill>
                  <a:srgbClr val="17375E"/>
                </a:solidFill>
                <a:latin typeface="Consolas"/>
              </a:rPr>
              <a:t>SELECT * FROM Patient;</a:t>
            </a:r>
            <a:endParaRPr lang="en-US" sz="1800" b="1" dirty="0">
              <a:solidFill>
                <a:srgbClr val="17375E"/>
              </a:solidFill>
              <a:latin typeface="Consolas"/>
            </a:endParaRPr>
          </a:p>
        </p:txBody>
      </p:sp>
      <p:pic>
        <p:nvPicPr>
          <p:cNvPr id="10" name="Picture 9">
            <a:extLst>
              <a:ext uri="{FF2B5EF4-FFF2-40B4-BE49-F238E27FC236}">
                <a16:creationId xmlns:a16="http://schemas.microsoft.com/office/drawing/2014/main" id="{392C3AFE-1B74-3ACC-0B5F-C2ED36D8724C}"/>
              </a:ext>
            </a:extLst>
          </p:cNvPr>
          <p:cNvPicPr>
            <a:picLocks noChangeAspect="1"/>
          </p:cNvPicPr>
          <p:nvPr/>
        </p:nvPicPr>
        <p:blipFill>
          <a:blip r:embed="rId6"/>
          <a:stretch>
            <a:fillRect/>
          </a:stretch>
        </p:blipFill>
        <p:spPr>
          <a:xfrm>
            <a:off x="1112180" y="3481161"/>
            <a:ext cx="7834039" cy="3680779"/>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502071" y="297752"/>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sp>
        <p:nvSpPr>
          <p:cNvPr id="9" name="TextBox 8">
            <a:extLst>
              <a:ext uri="{FF2B5EF4-FFF2-40B4-BE49-F238E27FC236}">
                <a16:creationId xmlns:a16="http://schemas.microsoft.com/office/drawing/2014/main" id="{7A800D15-2389-5516-DA9E-AC441973A9C8}"/>
              </a:ext>
            </a:extLst>
          </p:cNvPr>
          <p:cNvSpPr txBox="1"/>
          <p:nvPr/>
        </p:nvSpPr>
        <p:spPr>
          <a:xfrm>
            <a:off x="1749471" y="2362200"/>
            <a:ext cx="6781800" cy="461665"/>
          </a:xfrm>
          <a:prstGeom prst="rect">
            <a:avLst/>
          </a:prstGeom>
          <a:noFill/>
        </p:spPr>
        <p:txBody>
          <a:bodyPr wrap="square">
            <a:spAutoFit/>
          </a:bodyPr>
          <a:lstStyle/>
          <a:p>
            <a:endParaRPr/>
          </a:p>
        </p:txBody>
      </p:sp>
      <p:sp>
        <p:nvSpPr>
          <p:cNvPr id="18" name="TextBox 17"/>
          <p:cNvSpPr txBox="1"/>
          <p:nvPr/>
        </p:nvSpPr>
        <p:spPr>
          <a:xfrm>
            <a:off x="389012" y="934718"/>
            <a:ext cx="4335387" cy="1094146"/>
          </a:xfrm>
          <a:prstGeom prst="rect">
            <a:avLst/>
          </a:prstGeom>
          <a:noFill/>
          <a:ln>
            <a:noFill/>
          </a:ln>
        </p:spPr>
        <p:txBody>
          <a:bodyPr wrap="square" lIns="45720" tIns="27432" rIns="45720" bIns="27432">
            <a:spAutoFit/>
          </a:bodyPr>
          <a:lstStyle/>
          <a:p>
            <a:pPr>
              <a:lnSpc>
                <a:spcPct val="100000"/>
              </a:lnSpc>
              <a:spcAft>
                <a:spcPts val="300"/>
              </a:spcAft>
              <a:defRPr sz="1500">
                <a:solidFill>
                  <a:srgbClr val="17375E"/>
                </a:solidFill>
                <a:latin typeface="Times New Roman"/>
              </a:defRPr>
            </a:pPr>
            <a:r>
              <a:rPr dirty="0"/>
              <a:t>• CREATE – add a patient or appointment</a:t>
            </a:r>
          </a:p>
          <a:p>
            <a:pPr>
              <a:lnSpc>
                <a:spcPct val="100000"/>
              </a:lnSpc>
              <a:spcAft>
                <a:spcPts val="300"/>
              </a:spcAft>
              <a:defRPr sz="1500">
                <a:solidFill>
                  <a:srgbClr val="17375E"/>
                </a:solidFill>
                <a:latin typeface="Times New Roman"/>
              </a:defRPr>
            </a:pPr>
            <a:r>
              <a:rPr dirty="0"/>
              <a:t>• READ – retrieve patient and appointment information</a:t>
            </a:r>
          </a:p>
          <a:p>
            <a:pPr>
              <a:lnSpc>
                <a:spcPct val="100000"/>
              </a:lnSpc>
              <a:spcAft>
                <a:spcPts val="300"/>
              </a:spcAft>
              <a:defRPr sz="1500">
                <a:solidFill>
                  <a:srgbClr val="17375E"/>
                </a:solidFill>
                <a:latin typeface="Times New Roman"/>
              </a:defRPr>
            </a:pPr>
            <a:r>
              <a:rPr dirty="0"/>
              <a:t>• UPDATE – modify patient or appointment details</a:t>
            </a:r>
          </a:p>
          <a:p>
            <a:pPr>
              <a:lnSpc>
                <a:spcPct val="100000"/>
              </a:lnSpc>
              <a:spcAft>
                <a:spcPts val="300"/>
              </a:spcAft>
              <a:defRPr sz="1500">
                <a:solidFill>
                  <a:srgbClr val="17375E"/>
                </a:solidFill>
                <a:latin typeface="Times New Roman"/>
              </a:defRPr>
            </a:pPr>
            <a:r>
              <a:rPr dirty="0"/>
              <a:t>• DELETE – remove records with referential integrity</a:t>
            </a:r>
          </a:p>
        </p:txBody>
      </p:sp>
      <p:sp>
        <p:nvSpPr>
          <p:cNvPr id="19" name="TextBox 18"/>
          <p:cNvSpPr txBox="1"/>
          <p:nvPr/>
        </p:nvSpPr>
        <p:spPr>
          <a:xfrm>
            <a:off x="4868281" y="901792"/>
            <a:ext cx="4876237" cy="1094146"/>
          </a:xfrm>
          <a:prstGeom prst="rect">
            <a:avLst/>
          </a:prstGeom>
          <a:noFill/>
          <a:ln>
            <a:noFill/>
          </a:ln>
        </p:spPr>
        <p:txBody>
          <a:bodyPr wrap="square" lIns="45720" tIns="27432" rIns="45720" bIns="27432">
            <a:spAutoFit/>
          </a:bodyPr>
          <a:lstStyle/>
          <a:p>
            <a:pPr>
              <a:lnSpc>
                <a:spcPct val="100000"/>
              </a:lnSpc>
              <a:spcAft>
                <a:spcPts val="300"/>
              </a:spcAft>
              <a:defRPr sz="1500">
                <a:solidFill>
                  <a:srgbClr val="17375E"/>
                </a:solidFill>
                <a:latin typeface="Times New Roman"/>
              </a:defRPr>
            </a:pPr>
            <a:r>
              <a:rPr dirty="0"/>
              <a:t>• INNER JOIN and LEFT JOIN</a:t>
            </a:r>
          </a:p>
          <a:p>
            <a:pPr>
              <a:lnSpc>
                <a:spcPct val="100000"/>
              </a:lnSpc>
              <a:spcAft>
                <a:spcPts val="300"/>
              </a:spcAft>
              <a:defRPr sz="1500">
                <a:solidFill>
                  <a:srgbClr val="17375E"/>
                </a:solidFill>
                <a:latin typeface="Times New Roman"/>
              </a:defRPr>
            </a:pPr>
            <a:r>
              <a:rPr dirty="0"/>
              <a:t>• Aggregate Functions</a:t>
            </a:r>
          </a:p>
          <a:p>
            <a:pPr>
              <a:lnSpc>
                <a:spcPct val="100000"/>
              </a:lnSpc>
              <a:spcAft>
                <a:spcPts val="300"/>
              </a:spcAft>
              <a:defRPr sz="1500">
                <a:solidFill>
                  <a:srgbClr val="17375E"/>
                </a:solidFill>
                <a:latin typeface="Times New Roman"/>
              </a:defRPr>
            </a:pPr>
            <a:r>
              <a:rPr dirty="0"/>
              <a:t>• GROUP BY and HAVING</a:t>
            </a:r>
          </a:p>
          <a:p>
            <a:pPr>
              <a:lnSpc>
                <a:spcPct val="100000"/>
              </a:lnSpc>
              <a:spcAft>
                <a:spcPts val="300"/>
              </a:spcAft>
              <a:defRPr sz="1500">
                <a:solidFill>
                  <a:srgbClr val="17375E"/>
                </a:solidFill>
                <a:latin typeface="Times New Roman"/>
              </a:defRPr>
            </a:pPr>
            <a:r>
              <a:rPr dirty="0"/>
              <a:t>• Subqueries and Views</a:t>
            </a:r>
          </a:p>
        </p:txBody>
      </p:sp>
      <p:pic>
        <p:nvPicPr>
          <p:cNvPr id="10" name="Picture 9">
            <a:extLst>
              <a:ext uri="{FF2B5EF4-FFF2-40B4-BE49-F238E27FC236}">
                <a16:creationId xmlns:a16="http://schemas.microsoft.com/office/drawing/2014/main" id="{3F693433-D480-452C-27CC-03DD181FAD05}"/>
              </a:ext>
            </a:extLst>
          </p:cNvPr>
          <p:cNvPicPr>
            <a:picLocks noChangeAspect="1"/>
          </p:cNvPicPr>
          <p:nvPr/>
        </p:nvPicPr>
        <p:blipFill>
          <a:blip r:embed="rId6"/>
          <a:stretch>
            <a:fillRect/>
          </a:stretch>
        </p:blipFill>
        <p:spPr>
          <a:xfrm>
            <a:off x="1117433" y="2883710"/>
            <a:ext cx="7413838" cy="3957436"/>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2963382" y="343259"/>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 INTEGRITY &amp; VALIDATION</a:t>
            </a:r>
          </a:p>
        </p:txBody>
      </p:sp>
      <p:sp>
        <p:nvSpPr>
          <p:cNvPr id="9" name="TextBox 8">
            <a:extLst>
              <a:ext uri="{FF2B5EF4-FFF2-40B4-BE49-F238E27FC236}">
                <a16:creationId xmlns:a16="http://schemas.microsoft.com/office/drawing/2014/main" id="{7A800D15-2389-5516-DA9E-AC441973A9C8}"/>
              </a:ext>
            </a:extLst>
          </p:cNvPr>
          <p:cNvSpPr txBox="1"/>
          <p:nvPr/>
        </p:nvSpPr>
        <p:spPr>
          <a:xfrm>
            <a:off x="1828800" y="2415155"/>
            <a:ext cx="6781800" cy="461665"/>
          </a:xfrm>
          <a:prstGeom prst="rect">
            <a:avLst/>
          </a:prstGeom>
          <a:noFill/>
        </p:spPr>
        <p:txBody>
          <a:bodyPr wrap="square">
            <a:spAutoFit/>
          </a:bodyPr>
          <a:lstStyle/>
          <a:p>
            <a:endParaRPr/>
          </a:p>
        </p:txBody>
      </p:sp>
      <p:sp>
        <p:nvSpPr>
          <p:cNvPr id="18" name="TextBox 17"/>
          <p:cNvSpPr txBox="1"/>
          <p:nvPr/>
        </p:nvSpPr>
        <p:spPr>
          <a:xfrm>
            <a:off x="533400" y="1127610"/>
            <a:ext cx="8686800" cy="409343"/>
          </a:xfrm>
          <a:prstGeom prst="rect">
            <a:avLst/>
          </a:prstGeom>
          <a:noFill/>
          <a:ln>
            <a:noFill/>
          </a:ln>
        </p:spPr>
        <p:txBody>
          <a:bodyPr wrap="square" lIns="73152" tIns="73152" rIns="73152" bIns="73152" anchor="t">
            <a:spAutoFit/>
          </a:bodyPr>
          <a:lstStyle/>
          <a:p>
            <a:pPr algn="just">
              <a:spcBef>
                <a:spcPts val="0"/>
              </a:spcBef>
              <a:spcAft>
                <a:spcPts val="0"/>
              </a:spcAft>
            </a:pPr>
            <a:r>
              <a:rPr sz="1700" b="0" dirty="0">
                <a:solidFill>
                  <a:srgbClr val="17375E"/>
                </a:solidFill>
                <a:latin typeface="Times New Roman"/>
              </a:rPr>
              <a:t>The database maintains accuracy and consistency using constraints and validation rules.</a:t>
            </a:r>
          </a:p>
        </p:txBody>
      </p:sp>
      <p:sp>
        <p:nvSpPr>
          <p:cNvPr id="19" name="TextBox 18"/>
          <p:cNvSpPr txBox="1"/>
          <p:nvPr/>
        </p:nvSpPr>
        <p:spPr>
          <a:xfrm>
            <a:off x="631010" y="2585950"/>
            <a:ext cx="4429363" cy="1286506"/>
          </a:xfrm>
          <a:prstGeom prst="rect">
            <a:avLst/>
          </a:prstGeom>
          <a:noFill/>
          <a:ln>
            <a:noFill/>
          </a:ln>
        </p:spPr>
        <p:txBody>
          <a:bodyPr wrap="square" lIns="45720" tIns="27432" rIns="45720" bIns="27432">
            <a:spAutoFit/>
          </a:bodyPr>
          <a:lstStyle/>
          <a:p>
            <a:pPr algn="l">
              <a:lnSpc>
                <a:spcPct val="100000"/>
              </a:lnSpc>
              <a:spcAft>
                <a:spcPts val="300"/>
              </a:spcAft>
              <a:defRPr sz="1600">
                <a:solidFill>
                  <a:srgbClr val="17375E"/>
                </a:solidFill>
                <a:latin typeface="Times New Roman"/>
              </a:defRPr>
            </a:pPr>
            <a:r>
              <a:rPr lang="en-IN" sz="1600" dirty="0"/>
              <a:t>• </a:t>
            </a:r>
            <a:r>
              <a:rPr lang="en-IN" sz="1600" b="1" dirty="0"/>
              <a:t>PRIMARY KEY</a:t>
            </a:r>
            <a:r>
              <a:rPr lang="en-IN" sz="1600" dirty="0"/>
              <a:t> prevents duplicate IDs</a:t>
            </a:r>
            <a:br>
              <a:rPr lang="en-IN" sz="1600" dirty="0"/>
            </a:br>
            <a:r>
              <a:rPr lang="en-IN" sz="1600" dirty="0"/>
              <a:t>• </a:t>
            </a:r>
            <a:r>
              <a:rPr lang="en-IN" sz="1600" b="1" dirty="0"/>
              <a:t>FOREIGN KEY</a:t>
            </a:r>
            <a:r>
              <a:rPr lang="en-IN" sz="1600" dirty="0"/>
              <a:t> prevents invalid references</a:t>
            </a:r>
            <a:br>
              <a:rPr lang="en-IN" sz="1600" dirty="0"/>
            </a:br>
            <a:r>
              <a:rPr lang="en-IN" sz="1600" dirty="0"/>
              <a:t>• </a:t>
            </a:r>
            <a:r>
              <a:rPr lang="en-IN" sz="1600" b="1" dirty="0"/>
              <a:t>NOT NULL</a:t>
            </a:r>
            <a:r>
              <a:rPr lang="en-IN" sz="1600" dirty="0"/>
              <a:t> ensures required values are provided</a:t>
            </a:r>
            <a:br>
              <a:rPr lang="en-IN" sz="1600" dirty="0"/>
            </a:br>
            <a:r>
              <a:rPr lang="en-IN" sz="1600" dirty="0"/>
              <a:t>• </a:t>
            </a:r>
            <a:r>
              <a:rPr lang="en-IN" sz="1600" b="1" dirty="0"/>
              <a:t>UNIQUE</a:t>
            </a:r>
            <a:r>
              <a:rPr lang="en-IN" sz="1600" dirty="0"/>
              <a:t> prevents duplicate email/contact values</a:t>
            </a:r>
            <a:br>
              <a:rPr lang="en-IN" sz="1600" dirty="0"/>
            </a:br>
            <a:r>
              <a:rPr lang="en-IN" sz="1600" dirty="0"/>
              <a:t>• </a:t>
            </a:r>
            <a:r>
              <a:rPr lang="en-IN" sz="1600" b="1" dirty="0"/>
              <a:t>CHECK</a:t>
            </a:r>
            <a:r>
              <a:rPr lang="en-IN" sz="1600" dirty="0"/>
              <a:t> validates permitted values</a:t>
            </a:r>
            <a:endParaRPr dirty="0"/>
          </a:p>
        </p:txBody>
      </p:sp>
      <p:sp>
        <p:nvSpPr>
          <p:cNvPr id="20" name="TextBox 19"/>
          <p:cNvSpPr txBox="1"/>
          <p:nvPr/>
        </p:nvSpPr>
        <p:spPr>
          <a:xfrm>
            <a:off x="5394960" y="1928889"/>
            <a:ext cx="3566160" cy="411480"/>
          </a:xfrm>
          <a:prstGeom prst="rect">
            <a:avLst/>
          </a:prstGeom>
          <a:solidFill>
            <a:srgbClr val="F76600"/>
          </a:solidFill>
          <a:ln w="12700">
            <a:solidFill>
              <a:srgbClr val="F76600"/>
            </a:solidFill>
          </a:ln>
        </p:spPr>
        <p:txBody>
          <a:bodyPr wrap="square" lIns="73152" tIns="73152" rIns="73152" bIns="73152" anchor="t">
            <a:spAutoFit/>
          </a:bodyPr>
          <a:lstStyle/>
          <a:p>
            <a:pPr algn="ctr">
              <a:spcBef>
                <a:spcPts val="0"/>
              </a:spcBef>
              <a:spcAft>
                <a:spcPts val="0"/>
              </a:spcAft>
            </a:pPr>
            <a:r>
              <a:rPr sz="1700" b="1" dirty="0">
                <a:solidFill>
                  <a:srgbClr val="FFFFFF"/>
                </a:solidFill>
                <a:latin typeface="Times New Roman"/>
              </a:rPr>
              <a:t>VALIDATION RESULTS</a:t>
            </a:r>
          </a:p>
        </p:txBody>
      </p:sp>
      <p:sp>
        <p:nvSpPr>
          <p:cNvPr id="21" name="TextBox 20"/>
          <p:cNvSpPr txBox="1"/>
          <p:nvPr/>
        </p:nvSpPr>
        <p:spPr>
          <a:xfrm>
            <a:off x="5287282" y="2598267"/>
            <a:ext cx="4291445" cy="1286506"/>
          </a:xfrm>
          <a:prstGeom prst="rect">
            <a:avLst/>
          </a:prstGeom>
          <a:noFill/>
          <a:ln>
            <a:noFill/>
          </a:ln>
        </p:spPr>
        <p:txBody>
          <a:bodyPr wrap="square" lIns="45720" tIns="27432" rIns="45720" bIns="27432">
            <a:spAutoFit/>
          </a:bodyPr>
          <a:lstStyle/>
          <a:p>
            <a:pPr algn="just">
              <a:lnSpc>
                <a:spcPct val="100000"/>
              </a:lnSpc>
              <a:spcAft>
                <a:spcPts val="300"/>
              </a:spcAft>
              <a:defRPr sz="1600">
                <a:solidFill>
                  <a:srgbClr val="17375E"/>
                </a:solidFill>
                <a:latin typeface="Times New Roman"/>
              </a:defRPr>
            </a:pPr>
            <a:r>
              <a:rPr lang="en-IN" sz="1600" dirty="0"/>
              <a:t>• Duplicate Patient ID → </a:t>
            </a:r>
            <a:r>
              <a:rPr lang="en-IN" sz="1600" b="1" dirty="0"/>
              <a:t>Rejected</a:t>
            </a:r>
            <a:br>
              <a:rPr lang="en-IN" sz="1600" dirty="0"/>
            </a:br>
            <a:r>
              <a:rPr lang="en-IN" sz="1600" dirty="0"/>
              <a:t>• Invalid Patient/Doctor Foreign Key → </a:t>
            </a:r>
            <a:r>
              <a:rPr lang="en-IN" sz="1600" b="1" dirty="0"/>
              <a:t>Rejected</a:t>
            </a:r>
            <a:br>
              <a:rPr lang="en-IN" sz="1600" dirty="0"/>
            </a:br>
            <a:r>
              <a:rPr lang="en-IN" sz="1600" dirty="0"/>
              <a:t>• Missing required value → </a:t>
            </a:r>
            <a:r>
              <a:rPr lang="en-IN" sz="1600" b="1" dirty="0"/>
              <a:t>Rejected</a:t>
            </a:r>
            <a:br>
              <a:rPr lang="en-IN" sz="1600" dirty="0"/>
            </a:br>
            <a:r>
              <a:rPr lang="en-IN" sz="1600" dirty="0"/>
              <a:t>• Duplicate Doctor Email → </a:t>
            </a:r>
            <a:r>
              <a:rPr lang="en-IN" sz="1600" b="1" dirty="0"/>
              <a:t>Rejected</a:t>
            </a:r>
            <a:br>
              <a:rPr lang="en-IN" sz="1600" dirty="0"/>
            </a:br>
            <a:r>
              <a:rPr lang="en-IN" sz="1600" dirty="0"/>
              <a:t>• Invalid CHECK value → </a:t>
            </a:r>
            <a:r>
              <a:rPr lang="en-IN" sz="1600" b="1" dirty="0"/>
              <a:t>Rejected</a:t>
            </a:r>
            <a:endParaRPr dirty="0"/>
          </a:p>
        </p:txBody>
      </p:sp>
      <p:sp>
        <p:nvSpPr>
          <p:cNvPr id="12" name="TextBox 11">
            <a:extLst>
              <a:ext uri="{FF2B5EF4-FFF2-40B4-BE49-F238E27FC236}">
                <a16:creationId xmlns:a16="http://schemas.microsoft.com/office/drawing/2014/main" id="{3CFE1386-6ABE-17F0-885A-64676C7CB267}"/>
              </a:ext>
            </a:extLst>
          </p:cNvPr>
          <p:cNvSpPr txBox="1"/>
          <p:nvPr/>
        </p:nvSpPr>
        <p:spPr>
          <a:xfrm>
            <a:off x="631010" y="1955922"/>
            <a:ext cx="3566160" cy="393954"/>
          </a:xfrm>
          <a:prstGeom prst="rect">
            <a:avLst/>
          </a:prstGeom>
          <a:solidFill>
            <a:srgbClr val="F76600"/>
          </a:solidFill>
          <a:ln w="12700">
            <a:solidFill>
              <a:srgbClr val="F76600"/>
            </a:solidFill>
          </a:ln>
        </p:spPr>
        <p:txBody>
          <a:bodyPr wrap="square" lIns="73152" tIns="73152" rIns="73152" bIns="73152" anchor="t">
            <a:spAutoFit/>
          </a:bodyPr>
          <a:lstStyle/>
          <a:p>
            <a:pPr algn="ctr"/>
            <a:r>
              <a:rPr lang="en-IN" sz="1600" b="1" dirty="0">
                <a:solidFill>
                  <a:srgbClr val="FFFFFF"/>
                </a:solidFill>
                <a:latin typeface="Times New Roman"/>
              </a:rPr>
              <a:t> CONSTRAINTS USED</a:t>
            </a:r>
          </a:p>
        </p:txBody>
      </p:sp>
      <p:pic>
        <p:nvPicPr>
          <p:cNvPr id="22" name="Picture 21">
            <a:extLst>
              <a:ext uri="{FF2B5EF4-FFF2-40B4-BE49-F238E27FC236}">
                <a16:creationId xmlns:a16="http://schemas.microsoft.com/office/drawing/2014/main" id="{415F89E2-1FFD-0FD0-8814-1FA5C71889E9}"/>
              </a:ext>
            </a:extLst>
          </p:cNvPr>
          <p:cNvPicPr>
            <a:picLocks noChangeAspect="1"/>
          </p:cNvPicPr>
          <p:nvPr/>
        </p:nvPicPr>
        <p:blipFill>
          <a:blip r:embed="rId6"/>
          <a:stretch>
            <a:fillRect/>
          </a:stretch>
        </p:blipFill>
        <p:spPr>
          <a:xfrm>
            <a:off x="366294" y="4495800"/>
            <a:ext cx="9548154" cy="2262640"/>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PROJECT DOCUMENTATION</a:t>
            </a:r>
          </a:p>
        </p:txBody>
      </p:sp>
      <p:sp>
        <p:nvSpPr>
          <p:cNvPr id="9" name="TextBox 8">
            <a:extLst>
              <a:ext uri="{FF2B5EF4-FFF2-40B4-BE49-F238E27FC236}">
                <a16:creationId xmlns:a16="http://schemas.microsoft.com/office/drawing/2014/main" id="{7A800D15-2389-5516-DA9E-AC441973A9C8}"/>
              </a:ext>
            </a:extLst>
          </p:cNvPr>
          <p:cNvSpPr txBox="1"/>
          <p:nvPr/>
        </p:nvSpPr>
        <p:spPr>
          <a:xfrm>
            <a:off x="1749471" y="2362200"/>
            <a:ext cx="6781800" cy="461665"/>
          </a:xfrm>
          <a:prstGeom prst="rect">
            <a:avLst/>
          </a:prstGeom>
          <a:noFill/>
        </p:spPr>
        <p:txBody>
          <a:bodyPr wrap="square">
            <a:spAutoFit/>
          </a:bodyPr>
          <a:lstStyle/>
          <a:p>
            <a:endParaRPr/>
          </a:p>
        </p:txBody>
      </p:sp>
      <p:sp>
        <p:nvSpPr>
          <p:cNvPr id="18" name="TextBox 17"/>
          <p:cNvSpPr txBox="1"/>
          <p:nvPr/>
        </p:nvSpPr>
        <p:spPr>
          <a:xfrm>
            <a:off x="640080" y="1280160"/>
            <a:ext cx="8686800" cy="502920"/>
          </a:xfrm>
          <a:prstGeom prst="rect">
            <a:avLst/>
          </a:prstGeom>
          <a:noFill/>
          <a:ln>
            <a:noFill/>
          </a:ln>
        </p:spPr>
        <p:txBody>
          <a:bodyPr wrap="square" lIns="73152" tIns="73152" rIns="73152" bIns="73152" anchor="t">
            <a:spAutoFit/>
          </a:bodyPr>
          <a:lstStyle/>
          <a:p>
            <a:pPr algn="l">
              <a:spcBef>
                <a:spcPts val="0"/>
              </a:spcBef>
              <a:spcAft>
                <a:spcPts val="0"/>
              </a:spcAft>
            </a:pPr>
            <a:r>
              <a:rPr sz="1700" b="0">
                <a:solidFill>
                  <a:srgbClr val="17375E"/>
                </a:solidFill>
                <a:latin typeface="Times New Roman"/>
              </a:rPr>
              <a:t>The project documentation contains the complete database design and implementation details.</a:t>
            </a:r>
          </a:p>
        </p:txBody>
      </p:sp>
      <p:sp>
        <p:nvSpPr>
          <p:cNvPr id="19" name="TextBox 18"/>
          <p:cNvSpPr txBox="1"/>
          <p:nvPr/>
        </p:nvSpPr>
        <p:spPr>
          <a:xfrm>
            <a:off x="756047" y="1874519"/>
            <a:ext cx="3931920" cy="1517338"/>
          </a:xfrm>
          <a:prstGeom prst="rect">
            <a:avLst/>
          </a:prstGeom>
          <a:noFill/>
          <a:ln>
            <a:noFill/>
          </a:ln>
        </p:spPr>
        <p:txBody>
          <a:bodyPr wrap="square" lIns="45720" tIns="27432" rIns="45720" bIns="27432">
            <a:spAutoFit/>
          </a:bodyPr>
          <a:lstStyle/>
          <a:p>
            <a:pPr>
              <a:lnSpc>
                <a:spcPct val="100000"/>
              </a:lnSpc>
              <a:spcAft>
                <a:spcPts val="300"/>
              </a:spcAft>
              <a:defRPr sz="1700">
                <a:solidFill>
                  <a:srgbClr val="17375E"/>
                </a:solidFill>
                <a:latin typeface="Times New Roman"/>
              </a:defRPr>
            </a:pPr>
            <a:r>
              <a:rPr dirty="0"/>
              <a:t>• Problem statement and objectives</a:t>
            </a:r>
          </a:p>
          <a:p>
            <a:pPr>
              <a:lnSpc>
                <a:spcPct val="100000"/>
              </a:lnSpc>
              <a:spcAft>
                <a:spcPts val="300"/>
              </a:spcAft>
              <a:defRPr sz="1700">
                <a:solidFill>
                  <a:srgbClr val="17375E"/>
                </a:solidFill>
                <a:latin typeface="Times New Roman"/>
              </a:defRPr>
            </a:pPr>
            <a:r>
              <a:rPr dirty="0"/>
              <a:t>• Entity and attribute details</a:t>
            </a:r>
          </a:p>
          <a:p>
            <a:pPr>
              <a:lnSpc>
                <a:spcPct val="100000"/>
              </a:lnSpc>
              <a:spcAft>
                <a:spcPts val="300"/>
              </a:spcAft>
              <a:defRPr sz="1700">
                <a:solidFill>
                  <a:srgbClr val="17375E"/>
                </a:solidFill>
                <a:latin typeface="Times New Roman"/>
              </a:defRPr>
            </a:pPr>
            <a:r>
              <a:rPr dirty="0"/>
              <a:t>• ER diagram and relational schema</a:t>
            </a:r>
          </a:p>
          <a:p>
            <a:pPr>
              <a:lnSpc>
                <a:spcPct val="100000"/>
              </a:lnSpc>
              <a:spcAft>
                <a:spcPts val="300"/>
              </a:spcAft>
              <a:defRPr sz="1700">
                <a:solidFill>
                  <a:srgbClr val="17375E"/>
                </a:solidFill>
                <a:latin typeface="Times New Roman"/>
              </a:defRPr>
            </a:pPr>
            <a:r>
              <a:rPr dirty="0"/>
              <a:t>• Keys and constraints</a:t>
            </a:r>
          </a:p>
          <a:p>
            <a:pPr>
              <a:lnSpc>
                <a:spcPct val="100000"/>
              </a:lnSpc>
              <a:spcAft>
                <a:spcPts val="300"/>
              </a:spcAft>
              <a:defRPr sz="1700">
                <a:solidFill>
                  <a:srgbClr val="17375E"/>
                </a:solidFill>
                <a:latin typeface="Times New Roman"/>
              </a:defRPr>
            </a:pPr>
            <a:r>
              <a:rPr dirty="0"/>
              <a:t>• SQL queries and sample data</a:t>
            </a:r>
            <a:endParaRPr lang="en-US" dirty="0"/>
          </a:p>
        </p:txBody>
      </p:sp>
      <p:sp>
        <p:nvSpPr>
          <p:cNvPr id="20" name="TextBox 19"/>
          <p:cNvSpPr txBox="1"/>
          <p:nvPr/>
        </p:nvSpPr>
        <p:spPr>
          <a:xfrm>
            <a:off x="4892040" y="2123509"/>
            <a:ext cx="3840480" cy="1217256"/>
          </a:xfrm>
          <a:prstGeom prst="rect">
            <a:avLst/>
          </a:prstGeom>
          <a:noFill/>
          <a:ln>
            <a:noFill/>
          </a:ln>
        </p:spPr>
        <p:txBody>
          <a:bodyPr wrap="square" lIns="45720" tIns="27432" rIns="45720" bIns="27432">
            <a:spAutoFit/>
          </a:bodyPr>
          <a:lstStyle/>
          <a:p>
            <a:pPr>
              <a:lnSpc>
                <a:spcPct val="100000"/>
              </a:lnSpc>
              <a:spcAft>
                <a:spcPts val="300"/>
              </a:spcAft>
              <a:defRPr sz="1700">
                <a:solidFill>
                  <a:srgbClr val="17375E"/>
                </a:solidFill>
                <a:latin typeface="Times New Roman"/>
              </a:defRPr>
            </a:pPr>
            <a:r>
              <a:rPr dirty="0"/>
              <a:t>• CRUD operations</a:t>
            </a:r>
          </a:p>
          <a:p>
            <a:pPr>
              <a:lnSpc>
                <a:spcPct val="100000"/>
              </a:lnSpc>
              <a:spcAft>
                <a:spcPts val="300"/>
              </a:spcAft>
              <a:defRPr sz="1700">
                <a:solidFill>
                  <a:srgbClr val="17375E"/>
                </a:solidFill>
                <a:latin typeface="Times New Roman"/>
              </a:defRPr>
            </a:pPr>
            <a:r>
              <a:rPr dirty="0"/>
              <a:t>• Joins and aggregate queries</a:t>
            </a:r>
          </a:p>
          <a:p>
            <a:pPr>
              <a:lnSpc>
                <a:spcPct val="100000"/>
              </a:lnSpc>
              <a:spcAft>
                <a:spcPts val="300"/>
              </a:spcAft>
              <a:defRPr sz="1700">
                <a:solidFill>
                  <a:srgbClr val="17375E"/>
                </a:solidFill>
                <a:latin typeface="Times New Roman"/>
              </a:defRPr>
            </a:pPr>
            <a:r>
              <a:rPr dirty="0"/>
              <a:t>• Views and validation results</a:t>
            </a:r>
          </a:p>
          <a:p>
            <a:pPr>
              <a:lnSpc>
                <a:spcPct val="100000"/>
              </a:lnSpc>
              <a:spcAft>
                <a:spcPts val="300"/>
              </a:spcAft>
              <a:defRPr sz="1700">
                <a:solidFill>
                  <a:srgbClr val="17375E"/>
                </a:solidFill>
                <a:latin typeface="Times New Roman"/>
              </a:defRPr>
            </a:pPr>
            <a:r>
              <a:rPr dirty="0"/>
              <a:t>• Database execution screenshots</a:t>
            </a:r>
            <a:endParaRPr lang="en-US" dirty="0"/>
          </a:p>
        </p:txBody>
      </p:sp>
      <p:sp>
        <p:nvSpPr>
          <p:cNvPr id="10" name="TextBox 9">
            <a:extLst>
              <a:ext uri="{FF2B5EF4-FFF2-40B4-BE49-F238E27FC236}">
                <a16:creationId xmlns:a16="http://schemas.microsoft.com/office/drawing/2014/main" id="{1EA01369-4222-B521-19AD-4FA8E1A1C26D}"/>
              </a:ext>
            </a:extLst>
          </p:cNvPr>
          <p:cNvSpPr txBox="1"/>
          <p:nvPr/>
        </p:nvSpPr>
        <p:spPr>
          <a:xfrm>
            <a:off x="548640" y="4352776"/>
            <a:ext cx="8686800" cy="830997"/>
          </a:xfrm>
          <a:prstGeom prst="rect">
            <a:avLst/>
          </a:prstGeom>
          <a:noFill/>
        </p:spPr>
        <p:txBody>
          <a:bodyPr wrap="square">
            <a:spAutoFit/>
          </a:bodyPr>
          <a:lstStyle/>
          <a:p>
            <a:pPr algn="just">
              <a:spcBef>
                <a:spcPts val="0"/>
              </a:spcBef>
              <a:spcAft>
                <a:spcPts val="0"/>
              </a:spcAft>
            </a:pPr>
            <a:r>
              <a:rPr lang="en-US" sz="1600" b="0" dirty="0">
                <a:solidFill>
                  <a:srgbClr val="17375E"/>
                </a:solidFill>
                <a:latin typeface="Times New Roman"/>
              </a:rPr>
              <a:t>The working database is demonstrated using MySQL by creating tables, inserting records, executing SQL queries, performing CRUD operations and generating meaningful reports using joins, aggregate functions and views.</a:t>
            </a:r>
          </a:p>
        </p:txBody>
      </p:sp>
      <p:sp>
        <p:nvSpPr>
          <p:cNvPr id="12" name="TextBox 11">
            <a:extLst>
              <a:ext uri="{FF2B5EF4-FFF2-40B4-BE49-F238E27FC236}">
                <a16:creationId xmlns:a16="http://schemas.microsoft.com/office/drawing/2014/main" id="{A2060451-AFC9-6F2D-DC66-D6B75EF24C13}"/>
              </a:ext>
            </a:extLst>
          </p:cNvPr>
          <p:cNvSpPr txBox="1"/>
          <p:nvPr/>
        </p:nvSpPr>
        <p:spPr>
          <a:xfrm>
            <a:off x="3200400" y="3770136"/>
            <a:ext cx="5029200" cy="392415"/>
          </a:xfrm>
          <a:prstGeom prst="rect">
            <a:avLst/>
          </a:prstGeom>
          <a:noFill/>
        </p:spPr>
        <p:txBody>
          <a:bodyPr wrap="square">
            <a:spAutoFit/>
          </a:bodyPr>
          <a:lstStyle/>
          <a:p>
            <a:r>
              <a:rPr lang="en-IN" sz="1950" b="1" dirty="0">
                <a:solidFill>
                  <a:schemeClr val="tx1"/>
                </a:solidFill>
                <a:latin typeface="Times New Roman" panose="02020603050405020304" pitchFamily="18" charset="0"/>
                <a:cs typeface="Times New Roman" panose="02020603050405020304" pitchFamily="18" charset="0"/>
              </a:rPr>
              <a:t>DEMONSTRATE &amp; PRESENT</a:t>
            </a:r>
          </a:p>
        </p:txBody>
      </p:sp>
      <p:sp>
        <p:nvSpPr>
          <p:cNvPr id="14" name="TextBox 13">
            <a:extLst>
              <a:ext uri="{FF2B5EF4-FFF2-40B4-BE49-F238E27FC236}">
                <a16:creationId xmlns:a16="http://schemas.microsoft.com/office/drawing/2014/main" id="{A43F6288-EB3F-F9BE-21B3-D31782EBC61B}"/>
              </a:ext>
            </a:extLst>
          </p:cNvPr>
          <p:cNvSpPr txBox="1"/>
          <p:nvPr/>
        </p:nvSpPr>
        <p:spPr>
          <a:xfrm>
            <a:off x="2056652" y="5623394"/>
            <a:ext cx="6324600" cy="369332"/>
          </a:xfrm>
          <a:prstGeom prst="rect">
            <a:avLst/>
          </a:prstGeom>
          <a:noFill/>
        </p:spPr>
        <p:txBody>
          <a:bodyPr wrap="square">
            <a:spAutoFit/>
          </a:bodyPr>
          <a:lstStyle/>
          <a:p>
            <a:r>
              <a:rPr lang="en-IN" dirty="0">
                <a:hlinkClick r:id="rId6"/>
              </a:rPr>
              <a:t>https://dbfiddle.dev/postgres?checkpoint=1790501331</a:t>
            </a:r>
            <a:endParaRPr lang="en-IN" dirty="0"/>
          </a:p>
        </p:txBody>
      </p:sp>
    </p:spTree>
    <p:extLst>
      <p:ext uri="{BB962C8B-B14F-4D97-AF65-F5344CB8AC3E}">
        <p14:creationId xmlns:p14="http://schemas.microsoft.com/office/powerpoint/2010/main" val="2607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872251" y="1423788"/>
            <a:ext cx="8896040" cy="1538515"/>
          </a:xfrm>
          <a:prstGeom prst="rect">
            <a:avLst/>
          </a:prstGeom>
          <a:noFill/>
        </p:spPr>
        <p:txBody>
          <a:bodyPr wrap="square" rtlCol="0">
            <a:spAutoFit/>
          </a:bodyPr>
          <a:lstStyle/>
          <a:p>
            <a:endParaRPr lang="en-IN" sz="24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14" name="TextBox 13"/>
          <p:cNvSpPr txBox="1"/>
          <p:nvPr/>
        </p:nvSpPr>
        <p:spPr>
          <a:xfrm>
            <a:off x="444543" y="1112327"/>
            <a:ext cx="9012151" cy="1871282"/>
          </a:xfrm>
          <a:prstGeom prst="rect">
            <a:avLst/>
          </a:prstGeom>
          <a:noFill/>
          <a:ln>
            <a:noFill/>
          </a:ln>
        </p:spPr>
        <p:txBody>
          <a:bodyPr wrap="square" lIns="73152" tIns="73152" rIns="73152" bIns="73152" anchor="t">
            <a:spAutoFit/>
          </a:bodyPr>
          <a:lstStyle/>
          <a:p>
            <a:pPr algn="just">
              <a:spcBef>
                <a:spcPts val="0"/>
              </a:spcBef>
              <a:spcAft>
                <a:spcPts val="0"/>
              </a:spcAft>
            </a:pPr>
            <a:r>
              <a:rPr lang="en-IN" sz="1600" dirty="0"/>
              <a:t>The Hospital Management System successfully demonstrates the design and implementation of a relational database for managing essential hospital operations. It organizes patient, doctor, department, ward, appointment, treatment, prescription, and billing information while maintaining data integrity through primary keys, foreign keys, unique constraints, and validation rules. SQL operations, CRUD functionality, joins, aggregate functions, subqueries, and views enable effective data management and reporting. The project also demonstrates the practical application of database design, normalization, and relational concepts to a real-world healthcare scenario.</a:t>
            </a:r>
            <a:endParaRPr sz="1600" b="0" dirty="0">
              <a:solidFill>
                <a:srgbClr val="17375E"/>
              </a:solidFill>
              <a:latin typeface="Times New Roman"/>
            </a:endParaRPr>
          </a:p>
        </p:txBody>
      </p:sp>
      <p:sp>
        <p:nvSpPr>
          <p:cNvPr id="15" name="TextBox 14"/>
          <p:cNvSpPr txBox="1"/>
          <p:nvPr/>
        </p:nvSpPr>
        <p:spPr>
          <a:xfrm>
            <a:off x="499812" y="3554424"/>
            <a:ext cx="4316346" cy="424732"/>
          </a:xfrm>
          <a:prstGeom prst="rect">
            <a:avLst/>
          </a:prstGeom>
          <a:solidFill>
            <a:srgbClr val="F76600"/>
          </a:solidFill>
          <a:ln w="12700">
            <a:solidFill>
              <a:srgbClr val="F76600"/>
            </a:solidFill>
          </a:ln>
        </p:spPr>
        <p:txBody>
          <a:bodyPr wrap="square" lIns="73152" tIns="73152" rIns="73152" bIns="73152" anchor="t">
            <a:spAutoFit/>
          </a:bodyPr>
          <a:lstStyle/>
          <a:p>
            <a:pPr algn="ctr">
              <a:spcBef>
                <a:spcPts val="0"/>
              </a:spcBef>
              <a:spcAft>
                <a:spcPts val="0"/>
              </a:spcAft>
            </a:pPr>
            <a:r>
              <a:rPr sz="1800" b="1">
                <a:solidFill>
                  <a:srgbClr val="FFFFFF"/>
                </a:solidFill>
                <a:latin typeface="Times New Roman"/>
              </a:rPr>
              <a:t>KEY LEARNINGS</a:t>
            </a:r>
          </a:p>
        </p:txBody>
      </p:sp>
      <p:sp>
        <p:nvSpPr>
          <p:cNvPr id="16" name="TextBox 15"/>
          <p:cNvSpPr txBox="1"/>
          <p:nvPr/>
        </p:nvSpPr>
        <p:spPr>
          <a:xfrm>
            <a:off x="539620" y="4191000"/>
            <a:ext cx="4276538" cy="2908489"/>
          </a:xfrm>
          <a:prstGeom prst="rect">
            <a:avLst/>
          </a:prstGeom>
          <a:solidFill>
            <a:srgbClr val="F2F2F2"/>
          </a:solidFill>
          <a:ln w="12700">
            <a:solidFill>
              <a:srgbClr val="17375E"/>
            </a:solidFill>
          </a:ln>
        </p:spPr>
        <p:txBody>
          <a:bodyPr wrap="square" tIns="91440" bIns="91440" anchor="t">
            <a:spAutoFit/>
          </a:bodyPr>
          <a:lstStyle/>
          <a:p>
            <a:pPr marL="285750" lvl="0" indent="-285750">
              <a:buFont typeface="Wingdings" panose="05000000000000000000" pitchFamily="2" charset="2"/>
              <a:buChar char="Ø"/>
            </a:pPr>
            <a:r>
              <a:rPr lang="en-IN" sz="1600" dirty="0">
                <a:solidFill>
                  <a:schemeClr val="tx1"/>
                </a:solidFill>
              </a:rPr>
              <a:t>Database Design </a:t>
            </a:r>
          </a:p>
          <a:p>
            <a:pPr marL="285750" lvl="0" indent="-285750">
              <a:buFont typeface="Wingdings" panose="05000000000000000000" pitchFamily="2" charset="2"/>
              <a:buChar char="Ø"/>
            </a:pPr>
            <a:r>
              <a:rPr lang="en-IN" sz="1600" dirty="0">
                <a:solidFill>
                  <a:schemeClr val="tx1"/>
                </a:solidFill>
              </a:rPr>
              <a:t>ER </a:t>
            </a:r>
            <a:r>
              <a:rPr lang="en-IN" sz="1600" dirty="0" err="1">
                <a:solidFill>
                  <a:schemeClr val="tx1"/>
                </a:solidFill>
              </a:rPr>
              <a:t>Modeling</a:t>
            </a:r>
            <a:r>
              <a:rPr lang="en-IN" sz="1600" dirty="0">
                <a:solidFill>
                  <a:schemeClr val="tx1"/>
                </a:solidFill>
              </a:rPr>
              <a:t> </a:t>
            </a:r>
          </a:p>
          <a:p>
            <a:pPr marL="285750" lvl="0" indent="-285750">
              <a:buFont typeface="Wingdings" panose="05000000000000000000" pitchFamily="2" charset="2"/>
              <a:buChar char="Ø"/>
            </a:pPr>
            <a:r>
              <a:rPr lang="en-IN" sz="1600" dirty="0">
                <a:solidFill>
                  <a:schemeClr val="tx1"/>
                </a:solidFill>
              </a:rPr>
              <a:t>Relational Schema </a:t>
            </a:r>
          </a:p>
          <a:p>
            <a:pPr marL="285750" lvl="0" indent="-285750">
              <a:buFont typeface="Wingdings" panose="05000000000000000000" pitchFamily="2" charset="2"/>
              <a:buChar char="Ø"/>
            </a:pPr>
            <a:r>
              <a:rPr lang="en-IN" sz="1600" dirty="0">
                <a:solidFill>
                  <a:schemeClr val="tx1"/>
                </a:solidFill>
              </a:rPr>
              <a:t>Normalization </a:t>
            </a:r>
          </a:p>
          <a:p>
            <a:pPr marL="285750" lvl="0" indent="-285750">
              <a:buFont typeface="Wingdings" panose="05000000000000000000" pitchFamily="2" charset="2"/>
              <a:buChar char="Ø"/>
            </a:pPr>
            <a:r>
              <a:rPr lang="en-IN" sz="1600" dirty="0">
                <a:solidFill>
                  <a:schemeClr val="tx1"/>
                </a:solidFill>
              </a:rPr>
              <a:t>SQL &amp; Queries </a:t>
            </a:r>
          </a:p>
          <a:p>
            <a:pPr marL="285750" lvl="0" indent="-285750">
              <a:buFont typeface="Wingdings" panose="05000000000000000000" pitchFamily="2" charset="2"/>
              <a:buChar char="Ø"/>
            </a:pPr>
            <a:r>
              <a:rPr lang="en-IN" sz="1600" dirty="0">
                <a:solidFill>
                  <a:schemeClr val="tx1"/>
                </a:solidFill>
              </a:rPr>
              <a:t>CRUD Operations </a:t>
            </a:r>
          </a:p>
          <a:p>
            <a:pPr marL="285750" lvl="0" indent="-285750">
              <a:buFont typeface="Wingdings" panose="05000000000000000000" pitchFamily="2" charset="2"/>
              <a:buChar char="Ø"/>
            </a:pPr>
            <a:r>
              <a:rPr lang="en-IN" sz="1600" dirty="0">
                <a:solidFill>
                  <a:schemeClr val="tx1"/>
                </a:solidFill>
              </a:rPr>
              <a:t>Joins &amp; Aggregations </a:t>
            </a:r>
          </a:p>
          <a:p>
            <a:pPr marL="285750" lvl="0" indent="-285750">
              <a:buFont typeface="Wingdings" panose="05000000000000000000" pitchFamily="2" charset="2"/>
              <a:buChar char="Ø"/>
            </a:pPr>
            <a:r>
              <a:rPr lang="en-IN" sz="1600" dirty="0">
                <a:solidFill>
                  <a:schemeClr val="tx1"/>
                </a:solidFill>
              </a:rPr>
              <a:t>Constraints &amp; Data Integrity </a:t>
            </a:r>
          </a:p>
          <a:p>
            <a:pPr marL="285750" lvl="0" indent="-285750">
              <a:buFont typeface="Wingdings" panose="05000000000000000000" pitchFamily="2" charset="2"/>
              <a:buChar char="Ø"/>
            </a:pPr>
            <a:r>
              <a:rPr lang="en-IN" sz="1600" dirty="0">
                <a:solidFill>
                  <a:schemeClr val="tx1"/>
                </a:solidFill>
              </a:rPr>
              <a:t>Views &amp; Reporting </a:t>
            </a:r>
          </a:p>
          <a:p>
            <a:pPr marL="285750" lvl="0" indent="-285750">
              <a:buFont typeface="Wingdings" panose="05000000000000000000" pitchFamily="2" charset="2"/>
              <a:buChar char="Ø"/>
            </a:pPr>
            <a:r>
              <a:rPr lang="en-IN" sz="1600" dirty="0">
                <a:solidFill>
                  <a:schemeClr val="tx1"/>
                </a:solidFill>
              </a:rPr>
              <a:t>Team Collaboration</a:t>
            </a:r>
          </a:p>
          <a:p>
            <a:pPr marL="285750" indent="-285750" algn="ctr">
              <a:spcBef>
                <a:spcPts val="0"/>
              </a:spcBef>
              <a:spcAft>
                <a:spcPts val="0"/>
              </a:spcAft>
              <a:buFont typeface="Wingdings" panose="05000000000000000000" pitchFamily="2" charset="2"/>
              <a:buChar char="Ø"/>
            </a:pPr>
            <a:endParaRPr lang="en-IN" sz="1700" b="1" dirty="0">
              <a:solidFill>
                <a:schemeClr val="tx1"/>
              </a:solidFill>
              <a:latin typeface="Times New Roman"/>
            </a:endParaRPr>
          </a:p>
        </p:txBody>
      </p:sp>
      <p:sp>
        <p:nvSpPr>
          <p:cNvPr id="17" name="TextBox 16"/>
          <p:cNvSpPr txBox="1"/>
          <p:nvPr/>
        </p:nvSpPr>
        <p:spPr>
          <a:xfrm>
            <a:off x="5132513" y="3554424"/>
            <a:ext cx="4316346" cy="424732"/>
          </a:xfrm>
          <a:prstGeom prst="rect">
            <a:avLst/>
          </a:prstGeom>
          <a:solidFill>
            <a:srgbClr val="F76600"/>
          </a:solidFill>
          <a:ln w="12700">
            <a:solidFill>
              <a:srgbClr val="F76600"/>
            </a:solidFill>
          </a:ln>
        </p:spPr>
        <p:txBody>
          <a:bodyPr wrap="square" lIns="73152" tIns="73152" rIns="73152" bIns="73152" anchor="t">
            <a:spAutoFit/>
          </a:bodyPr>
          <a:lstStyle/>
          <a:p>
            <a:pPr algn="ctr">
              <a:spcBef>
                <a:spcPts val="0"/>
              </a:spcBef>
              <a:spcAft>
                <a:spcPts val="0"/>
              </a:spcAft>
            </a:pPr>
            <a:r>
              <a:rPr sz="1800" b="1" dirty="0">
                <a:solidFill>
                  <a:srgbClr val="FFFFFF"/>
                </a:solidFill>
                <a:latin typeface="Times New Roman"/>
              </a:rPr>
              <a:t>FUTURE ENHANCEMENTS</a:t>
            </a:r>
          </a:p>
        </p:txBody>
      </p:sp>
      <p:sp>
        <p:nvSpPr>
          <p:cNvPr id="18" name="TextBox 17"/>
          <p:cNvSpPr txBox="1"/>
          <p:nvPr/>
        </p:nvSpPr>
        <p:spPr>
          <a:xfrm>
            <a:off x="5132513" y="4239851"/>
            <a:ext cx="4221480" cy="2893100"/>
          </a:xfrm>
          <a:prstGeom prst="rect">
            <a:avLst/>
          </a:prstGeom>
          <a:solidFill>
            <a:srgbClr val="F2F2F2"/>
          </a:solidFill>
          <a:ln w="12700">
            <a:solidFill>
              <a:srgbClr val="17375E"/>
            </a:solidFill>
          </a:ln>
        </p:spPr>
        <p:txBody>
          <a:bodyPr wrap="square" tIns="91440" bIns="91440" anchor="t">
            <a:spAutoFit/>
          </a:bodyPr>
          <a:lstStyle/>
          <a:p>
            <a:pPr marL="285750" indent="-285750" algn="l">
              <a:spcBef>
                <a:spcPts val="0"/>
              </a:spcBef>
              <a:spcAft>
                <a:spcPts val="0"/>
              </a:spcAft>
              <a:buFont typeface="Wingdings" panose="05000000000000000000" pitchFamily="2" charset="2"/>
              <a:buChar char="Ø"/>
            </a:pPr>
            <a:r>
              <a:rPr lang="en-US" sz="1600" b="1" dirty="0">
                <a:solidFill>
                  <a:schemeClr val="tx1"/>
                </a:solidFill>
                <a:latin typeface="Times New Roman"/>
              </a:rPr>
              <a:t>Online Appointment Booking </a:t>
            </a:r>
          </a:p>
          <a:p>
            <a:pPr marL="285750" indent="-285750" algn="l">
              <a:spcBef>
                <a:spcPts val="0"/>
              </a:spcBef>
              <a:spcAft>
                <a:spcPts val="0"/>
              </a:spcAft>
              <a:buFont typeface="Wingdings" panose="05000000000000000000" pitchFamily="2" charset="2"/>
              <a:buChar char="Ø"/>
            </a:pPr>
            <a:r>
              <a:rPr lang="en-US" sz="1600" b="1" dirty="0">
                <a:solidFill>
                  <a:schemeClr val="tx1"/>
                </a:solidFill>
                <a:latin typeface="Times New Roman"/>
              </a:rPr>
              <a:t>Role-Based Access</a:t>
            </a:r>
          </a:p>
          <a:p>
            <a:pPr marL="285750" indent="-285750" algn="l">
              <a:spcBef>
                <a:spcPts val="0"/>
              </a:spcBef>
              <a:spcAft>
                <a:spcPts val="0"/>
              </a:spcAft>
              <a:buFont typeface="Wingdings" panose="05000000000000000000" pitchFamily="2" charset="2"/>
              <a:buChar char="Ø"/>
            </a:pPr>
            <a:r>
              <a:rPr lang="en-US" sz="1600" b="1" dirty="0">
                <a:solidFill>
                  <a:schemeClr val="tx1"/>
                </a:solidFill>
                <a:latin typeface="Times New Roman"/>
              </a:rPr>
              <a:t>Digital Prescriptions </a:t>
            </a:r>
          </a:p>
          <a:p>
            <a:pPr marL="285750" indent="-285750" algn="l">
              <a:spcBef>
                <a:spcPts val="0"/>
              </a:spcBef>
              <a:spcAft>
                <a:spcPts val="0"/>
              </a:spcAft>
              <a:buFont typeface="Wingdings" panose="05000000000000000000" pitchFamily="2" charset="2"/>
              <a:buChar char="Ø"/>
            </a:pPr>
            <a:r>
              <a:rPr lang="en-US" sz="1600" b="1" dirty="0">
                <a:solidFill>
                  <a:schemeClr val="tx1"/>
                </a:solidFill>
                <a:latin typeface="Times New Roman"/>
              </a:rPr>
              <a:t>Automated Billing </a:t>
            </a:r>
          </a:p>
          <a:p>
            <a:pPr marL="285750" indent="-285750" algn="l">
              <a:spcBef>
                <a:spcPts val="0"/>
              </a:spcBef>
              <a:spcAft>
                <a:spcPts val="0"/>
              </a:spcAft>
              <a:buFont typeface="Wingdings" panose="05000000000000000000" pitchFamily="2" charset="2"/>
              <a:buChar char="Ø"/>
            </a:pPr>
            <a:r>
              <a:rPr lang="en-US" sz="1600" b="1" dirty="0">
                <a:solidFill>
                  <a:schemeClr val="tx1"/>
                </a:solidFill>
                <a:latin typeface="Times New Roman"/>
              </a:rPr>
              <a:t>Analytics Dashboard</a:t>
            </a:r>
          </a:p>
          <a:p>
            <a:pPr marL="285750" lvl="0" indent="-285750" algn="l">
              <a:buFont typeface="Wingdings" panose="05000000000000000000" pitchFamily="2" charset="2"/>
              <a:buChar char="Ø"/>
            </a:pPr>
            <a:r>
              <a:rPr lang="en-IN" sz="1600" b="1" dirty="0">
                <a:solidFill>
                  <a:schemeClr val="tx1"/>
                </a:solidFill>
                <a:latin typeface="Times New Roman" panose="02020603050405020304" pitchFamily="18" charset="0"/>
                <a:cs typeface="Times New Roman" panose="02020603050405020304" pitchFamily="18" charset="0"/>
              </a:rPr>
              <a:t>Patient Medical History</a:t>
            </a:r>
            <a:r>
              <a:rPr lang="en-IN" sz="1600" dirty="0">
                <a:solidFill>
                  <a:schemeClr val="tx1"/>
                </a:solidFill>
                <a:latin typeface="Times New Roman" panose="02020603050405020304" pitchFamily="18" charset="0"/>
                <a:cs typeface="Times New Roman" panose="02020603050405020304" pitchFamily="18" charset="0"/>
              </a:rPr>
              <a:t> </a:t>
            </a:r>
          </a:p>
          <a:p>
            <a:pPr marL="285750" lvl="0" indent="-285750" algn="l">
              <a:buFont typeface="Wingdings" panose="05000000000000000000" pitchFamily="2" charset="2"/>
              <a:buChar char="Ø"/>
            </a:pPr>
            <a:r>
              <a:rPr lang="en-IN" sz="1600" b="1" dirty="0">
                <a:solidFill>
                  <a:schemeClr val="tx1"/>
                </a:solidFill>
                <a:latin typeface="Times New Roman" panose="02020603050405020304" pitchFamily="18" charset="0"/>
                <a:cs typeface="Times New Roman" panose="02020603050405020304" pitchFamily="18" charset="0"/>
              </a:rPr>
              <a:t>Staff Management</a:t>
            </a:r>
            <a:r>
              <a:rPr lang="en-IN" sz="1600" dirty="0">
                <a:solidFill>
                  <a:schemeClr val="tx1"/>
                </a:solidFill>
                <a:latin typeface="Times New Roman" panose="02020603050405020304" pitchFamily="18" charset="0"/>
                <a:cs typeface="Times New Roman" panose="02020603050405020304" pitchFamily="18" charset="0"/>
              </a:rPr>
              <a:t> </a:t>
            </a:r>
          </a:p>
          <a:p>
            <a:pPr marL="285750" lvl="0" indent="-285750" algn="l">
              <a:buFont typeface="Wingdings" panose="05000000000000000000" pitchFamily="2" charset="2"/>
              <a:buChar char="Ø"/>
            </a:pPr>
            <a:r>
              <a:rPr lang="en-IN" sz="1600" b="1" dirty="0">
                <a:solidFill>
                  <a:schemeClr val="tx1"/>
                </a:solidFill>
                <a:latin typeface="Times New Roman" panose="02020603050405020304" pitchFamily="18" charset="0"/>
                <a:cs typeface="Times New Roman" panose="02020603050405020304" pitchFamily="18" charset="0"/>
              </a:rPr>
              <a:t>Pharmacy Management</a:t>
            </a:r>
            <a:r>
              <a:rPr lang="en-IN" sz="1600" dirty="0">
                <a:solidFill>
                  <a:schemeClr val="tx1"/>
                </a:solidFill>
                <a:latin typeface="Times New Roman" panose="02020603050405020304" pitchFamily="18" charset="0"/>
                <a:cs typeface="Times New Roman" panose="02020603050405020304" pitchFamily="18" charset="0"/>
              </a:rPr>
              <a:t> </a:t>
            </a:r>
          </a:p>
          <a:p>
            <a:pPr marL="285750" lvl="0" indent="-285750" algn="l">
              <a:buFont typeface="Wingdings" panose="05000000000000000000" pitchFamily="2" charset="2"/>
              <a:buChar char="Ø"/>
            </a:pPr>
            <a:r>
              <a:rPr lang="en-IN" sz="1600" b="1" dirty="0">
                <a:solidFill>
                  <a:schemeClr val="tx1"/>
                </a:solidFill>
                <a:latin typeface="Times New Roman" panose="02020603050405020304" pitchFamily="18" charset="0"/>
                <a:cs typeface="Times New Roman" panose="02020603050405020304" pitchFamily="18" charset="0"/>
              </a:rPr>
              <a:t>Bed Availability Tracking</a:t>
            </a:r>
            <a:r>
              <a:rPr lang="en-IN" sz="1600" dirty="0">
                <a:solidFill>
                  <a:schemeClr val="tx1"/>
                </a:solidFill>
                <a:latin typeface="Times New Roman" panose="02020603050405020304" pitchFamily="18" charset="0"/>
                <a:cs typeface="Times New Roman" panose="02020603050405020304" pitchFamily="18" charset="0"/>
              </a:rPr>
              <a:t> </a:t>
            </a:r>
          </a:p>
          <a:p>
            <a:pPr marL="285750" lvl="0" indent="-285750" algn="l">
              <a:buFont typeface="Wingdings" panose="05000000000000000000" pitchFamily="2" charset="2"/>
              <a:buChar char="Ø"/>
            </a:pPr>
            <a:r>
              <a:rPr lang="en-IN" sz="1600" b="1" dirty="0">
                <a:solidFill>
                  <a:schemeClr val="tx1"/>
                </a:solidFill>
                <a:latin typeface="Times New Roman" panose="02020603050405020304" pitchFamily="18" charset="0"/>
                <a:cs typeface="Times New Roman" panose="02020603050405020304" pitchFamily="18" charset="0"/>
              </a:rPr>
              <a:t>SMS/Email Notifications</a:t>
            </a:r>
            <a:r>
              <a:rPr lang="en-IN" sz="1600" dirty="0">
                <a:solidFill>
                  <a:schemeClr val="tx1"/>
                </a:solidFill>
                <a:latin typeface="Times New Roman" panose="02020603050405020304" pitchFamily="18" charset="0"/>
                <a:cs typeface="Times New Roman" panose="02020603050405020304" pitchFamily="18" charset="0"/>
              </a:rPr>
              <a:t> </a:t>
            </a:r>
          </a:p>
          <a:p>
            <a:pPr marL="285750" lvl="0" indent="-285750" algn="l">
              <a:buFont typeface="Wingdings" panose="05000000000000000000" pitchFamily="2" charset="2"/>
              <a:buChar char="Ø"/>
            </a:pPr>
            <a:r>
              <a:rPr lang="en-IN" sz="1600" b="1" dirty="0">
                <a:solidFill>
                  <a:schemeClr val="tx1"/>
                </a:solidFill>
                <a:latin typeface="Times New Roman" panose="02020603050405020304" pitchFamily="18" charset="0"/>
                <a:cs typeface="Times New Roman" panose="02020603050405020304" pitchFamily="18" charset="0"/>
              </a:rPr>
              <a:t>Backup &amp; Recovery</a:t>
            </a:r>
            <a:r>
              <a:rPr lang="en-IN" sz="1600"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694192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
        <p:nvSpPr>
          <p:cNvPr id="5" name="TextBox 4"/>
          <p:cNvSpPr txBox="1"/>
          <p:nvPr/>
        </p:nvSpPr>
        <p:spPr>
          <a:xfrm>
            <a:off x="2926080" y="4160520"/>
            <a:ext cx="4023360" cy="457200"/>
          </a:xfrm>
          <a:prstGeom prst="rect">
            <a:avLst/>
          </a:prstGeom>
          <a:noFill/>
          <a:ln>
            <a:noFill/>
          </a:ln>
        </p:spPr>
        <p:txBody>
          <a:bodyPr wrap="square" lIns="73152" tIns="73152" rIns="73152" bIns="73152" anchor="t">
            <a:spAutoFit/>
          </a:bodyPr>
          <a:lstStyle/>
          <a:p>
            <a:pPr algn="ctr">
              <a:spcBef>
                <a:spcPts val="0"/>
              </a:spcBef>
              <a:spcAft>
                <a:spcPts val="0"/>
              </a:spcAft>
            </a:pPr>
            <a:r>
              <a:rPr sz="2000" b="0">
                <a:solidFill>
                  <a:srgbClr val="17375E"/>
                </a:solidFill>
                <a:latin typeface="Times New Roman"/>
              </a:rPr>
              <a:t>Questions &amp; Discussion</a:t>
            </a:r>
          </a:p>
        </p:txBody>
      </p:sp>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2728</TotalTime>
  <Words>1383</Words>
  <Application>Microsoft Office PowerPoint</Application>
  <PresentationFormat>Custom</PresentationFormat>
  <Paragraphs>195</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Calibri</vt:lpstr>
      <vt:lpstr>Cambria</vt:lpstr>
      <vt:lpstr>Consolas</vt:lpstr>
      <vt:lpstr>Palatino Linotype</vt:lpstr>
      <vt:lpstr>Times New Roman</vt:lpstr>
      <vt:lpstr>Wingdings</vt:lpstr>
      <vt:lpstr>Office Theme</vt:lpstr>
      <vt:lpstr>Database Management Systems Cornerstone Project Final Review (Review I &amp; 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Management System – DBMS Final Review</dc:title>
  <dc:subject>Review I &amp; II: Database Design and MySQL Implementation</dc:subject>
  <dc:creator>RESHMA BASAPATHI</dc:creator>
  <cp:lastModifiedBy>25B11AI310</cp:lastModifiedBy>
  <cp:revision>52</cp:revision>
  <cp:lastPrinted>2025-10-14T18:21:49Z</cp:lastPrinted>
  <dcterms:created xsi:type="dcterms:W3CDTF">2025-10-10T08:28:06Z</dcterms:created>
  <dcterms:modified xsi:type="dcterms:W3CDTF">2026-09-27T10:06:18Z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